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50"/>
    <p:restoredTop sz="94610"/>
  </p:normalViewPr>
  <p:slideViewPr>
    <p:cSldViewPr snapToGrid="0" snapToObjects="1">
      <p:cViewPr varScale="1">
        <p:scale>
          <a:sx n="126" d="100"/>
          <a:sy n="126" d="100"/>
        </p:scale>
        <p:origin x="192"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A3C"/>
                </a:solidFill>
                <a:latin typeface="Arial"/>
              </a:defRPr>
            </a:pPr>
            <a:r>
              <a:rPr lang="en-US" sz="1200" b="0" i="0" u="none" strike="noStrike">
                <a:solidFill>
                  <a:srgbClr val="1F2A3C"/>
                </a:solidFill>
                <a:latin typeface="Arial"/>
              </a:rPr>
              <a:t>Target classes (% of 95,787 games)</a:t>
            </a:r>
          </a:p>
        </c:rich>
      </c:tx>
      <c:overlay val="0"/>
    </c:title>
    <c:autoTitleDeleted val="0"/>
    <c:plotArea>
      <c:layout/>
      <c:barChart>
        <c:barDir val="col"/>
        <c:grouping val="clustered"/>
        <c:varyColors val="0"/>
        <c:ser>
          <c:idx val="0"/>
          <c:order val="0"/>
          <c:tx>
            <c:strRef>
              <c:f>Sheet1!$B$1</c:f>
              <c:strCache>
                <c:ptCount val="1"/>
                <c:pt idx="0">
                  <c:v>Share of games</c:v>
                </c:pt>
              </c:strCache>
            </c:strRef>
          </c:tx>
          <c:spPr>
            <a:solidFill>
              <a:srgbClr val="8A8984"/>
            </a:solidFill>
            <a:effectLst/>
          </c:spPr>
          <c:invertIfNegative val="0"/>
          <c:dPt>
            <c:idx val="0"/>
            <c:invertIfNegative val="0"/>
            <c:bubble3D val="0"/>
            <c:spPr>
              <a:solidFill>
                <a:srgbClr val="8A8984"/>
              </a:solidFill>
              <a:effectLst/>
            </c:spPr>
            <c:extLst>
              <c:ext xmlns:c16="http://schemas.microsoft.com/office/drawing/2014/chart" uri="{C3380CC4-5D6E-409C-BE32-E72D297353CC}">
                <c16:uniqueId val="{00000001-6104-574E-B68A-2804250B185D}"/>
              </c:ext>
            </c:extLst>
          </c:dPt>
          <c:dPt>
            <c:idx val="1"/>
            <c:invertIfNegative val="0"/>
            <c:bubble3D val="0"/>
            <c:spPr>
              <a:solidFill>
                <a:srgbClr val="D9693A"/>
              </a:solidFill>
              <a:effectLst/>
            </c:spPr>
            <c:extLst>
              <c:ext xmlns:c16="http://schemas.microsoft.com/office/drawing/2014/chart" uri="{C3380CC4-5D6E-409C-BE32-E72D297353CC}">
                <c16:uniqueId val="{00000003-6104-574E-B68A-2804250B185D}"/>
              </c:ext>
            </c:extLst>
          </c:dPt>
          <c:dLbls>
            <c:numFmt formatCode="0.0&quot;%&quot;" sourceLinked="0"/>
            <c:spPr>
              <a:noFill/>
              <a:ln>
                <a:noFill/>
              </a:ln>
              <a:effectLst/>
            </c:spPr>
            <c:txPr>
              <a:bodyPr/>
              <a:lstStyle/>
              <a:p>
                <a:pPr>
                  <a:defRPr sz="1200" b="0" i="0" u="none" strike="noStrike">
                    <a:solidFill>
                      <a:srgbClr val="1F2A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Not a hit (&lt; 50K)</c:v>
                </c:pt>
                <c:pt idx="1">
                  <c:v>Hit (≥ 50K)</c:v>
                </c:pt>
              </c:strCache>
            </c:strRef>
          </c:cat>
          <c:val>
            <c:numRef>
              <c:f>Sheet1!$B$2:$B$3</c:f>
              <c:numCache>
                <c:formatCode>General</c:formatCode>
                <c:ptCount val="2"/>
                <c:pt idx="0">
                  <c:v>85.4</c:v>
                </c:pt>
                <c:pt idx="1">
                  <c:v>14.6</c:v>
                </c:pt>
              </c:numCache>
            </c:numRef>
          </c:val>
          <c:extLst>
            <c:ext xmlns:c16="http://schemas.microsoft.com/office/drawing/2014/chart" uri="{C3380CC4-5D6E-409C-BE32-E72D297353CC}">
              <c16:uniqueId val="{00000004-6104-574E-B68A-2804250B185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3C"/>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5E5E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9877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Steam Games Dataset from Kaggle, collected from the Steam Store API and SteamSpy. The raw file lists 125,855 games with 39 features each, far above the 50,000-row and 20-feature minimums. The features fall into five groups: business choices like price, platform and language reach, store-page content like genres and screenshots, who made the game, and post-launch outcomes like owners and reviews. That last group is in orange because it is what we predict, not what we predict from. After Keerat's cleaning we keep 95,787 games.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this dataset because it answers our question directly. Estimated owners gives us a measure of success, and price, genre, platforms, languages and publisher are all decisions a developer makes before launch. It covers the whole market over almost twenty years, so it works for both EDA and machine learning. It is also complex: list-style text fields have to be expanded into many binary columns, the target is stored as ranges rather than numbers, the distribution is extremely skewed, and the raw file itself has problems that Keerat will show.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ML task is supervised binary classification. A game counts as a hit if it reaches at least 50,000 owners. Only 14.6 percent of games do, so the classes are imbalanced. We chose classification because owners are only given as ranges. The most important design decision is which features the model may see. We use only the 72 features a developer knows before launch. Reviews, playtime and peak players are excluded, because they only exist after a game has already succeeded or failed; using them would leak the answer into the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modelling choice comes from an EDA finding. Because only 14.6 percent of games are hits, we will use class weights or SMOTE and measure F1, recall and PR-AUC, since a model that always says "not a hit" would already be 85 percent accurate. Price has a non-linear effect, so we will use tree models with logistic regression as a baseline. Releases grow sharply over time, so we split by release date instead of randomly. Publisher experience only counts earlier releases. Finally, to answer which features matter most, we will use permutation importance and SHAP values. No results yet; that is for the final presentation.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200" b="1" dirty="0">
                <a:solidFill>
                  <a:srgbClr val="3D74CC"/>
                </a:solidFill>
                <a:latin typeface="Arial" pitchFamily="34" charset="0"/>
                <a:ea typeface="Arial" pitchFamily="34" charset="-122"/>
                <a:cs typeface="Arial" pitchFamily="34" charset="-120"/>
              </a:rPr>
              <a:t>DATASET INTRODUCTION</a:t>
            </a:r>
            <a:endParaRPr lang="en-US" sz="12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marL="0" indent="0">
              <a:buNone/>
            </a:pPr>
            <a:r>
              <a:rPr lang="en-US" sz="2600" b="1" dirty="0">
                <a:solidFill>
                  <a:srgbClr val="1F2A3C"/>
                </a:solidFill>
                <a:latin typeface="Arial" pitchFamily="34" charset="0"/>
                <a:ea typeface="Arial" pitchFamily="34" charset="-122"/>
                <a:cs typeface="Arial" pitchFamily="34" charset="-120"/>
              </a:rPr>
              <a:t>125,855 Steam games, 39 features, one question</a:t>
            </a:r>
            <a:endParaRPr lang="en-US" sz="2600" dirty="0"/>
          </a:p>
        </p:txBody>
      </p:sp>
      <p:sp>
        <p:nvSpPr>
          <p:cNvPr id="4" name="Text 2"/>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6B6B6B"/>
                </a:solidFill>
                <a:latin typeface="Arial" pitchFamily="34" charset="0"/>
                <a:ea typeface="Arial" pitchFamily="34" charset="-122"/>
                <a:cs typeface="Arial" pitchFamily="34" charset="-120"/>
              </a:rPr>
              <a:t>Dataset introduction &amp; ML direction · Chinmayi</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6B6B6B"/>
                </a:solidFill>
                <a:latin typeface="Arial" pitchFamily="34" charset="0"/>
                <a:ea typeface="Arial" pitchFamily="34" charset="-122"/>
                <a:cs typeface="Arial" pitchFamily="34" charset="-120"/>
              </a:rPr>
              <a:t>1</a:t>
            </a:r>
            <a:endParaRPr lang="en-US" sz="900" dirty="0"/>
          </a:p>
        </p:txBody>
      </p:sp>
      <p:sp>
        <p:nvSpPr>
          <p:cNvPr id="6" name="Shape 4"/>
          <p:cNvSpPr/>
          <p:nvPr/>
        </p:nvSpPr>
        <p:spPr>
          <a:xfrm>
            <a:off x="457200" y="1325880"/>
            <a:ext cx="3291840" cy="896112"/>
          </a:xfrm>
          <a:prstGeom prst="roundRect">
            <a:avLst>
              <a:gd name="adj" fmla="val 8163"/>
            </a:avLst>
          </a:prstGeom>
          <a:solidFill>
            <a:srgbClr val="EEF2F7"/>
          </a:solidFill>
          <a:ln w="12700">
            <a:solidFill>
              <a:srgbClr val="EEF2F7"/>
            </a:solidFill>
            <a:prstDash val="solid"/>
          </a:ln>
        </p:spPr>
        <p:txBody>
          <a:bodyPr/>
          <a:lstStyle/>
          <a:p>
            <a:endParaRPr lang="en-US"/>
          </a:p>
        </p:txBody>
      </p:sp>
      <p:sp>
        <p:nvSpPr>
          <p:cNvPr id="7" name="Text 5"/>
          <p:cNvSpPr txBox="1"/>
          <p:nvPr/>
        </p:nvSpPr>
        <p:spPr>
          <a:xfrm>
            <a:off x="640080" y="1399032"/>
            <a:ext cx="3017520" cy="457200"/>
          </a:xfrm>
          <a:prstGeom prst="rect">
            <a:avLst/>
          </a:prstGeom>
          <a:noFill/>
          <a:ln/>
        </p:spPr>
        <p:txBody>
          <a:bodyPr wrap="square" lIns="0" tIns="0" rIns="0" bIns="0" rtlCol="0" anchor="ctr"/>
          <a:lstStyle/>
          <a:p>
            <a:pPr marL="0" indent="0">
              <a:buNone/>
            </a:pPr>
            <a:r>
              <a:rPr lang="en-US" sz="2600" b="1" dirty="0">
                <a:solidFill>
                  <a:srgbClr val="3D74CC"/>
                </a:solidFill>
                <a:latin typeface="Arial" pitchFamily="34" charset="0"/>
                <a:ea typeface="Arial" pitchFamily="34" charset="-122"/>
                <a:cs typeface="Arial" pitchFamily="34" charset="-120"/>
              </a:rPr>
              <a:t>125,855</a:t>
            </a:r>
            <a:endParaRPr lang="en-US" sz="2600" dirty="0"/>
          </a:p>
        </p:txBody>
      </p:sp>
      <p:sp>
        <p:nvSpPr>
          <p:cNvPr id="8" name="Text 6"/>
          <p:cNvSpPr txBox="1"/>
          <p:nvPr/>
        </p:nvSpPr>
        <p:spPr>
          <a:xfrm>
            <a:off x="640080" y="1837944"/>
            <a:ext cx="3017520" cy="320040"/>
          </a:xfrm>
          <a:prstGeom prst="rect">
            <a:avLst/>
          </a:prstGeom>
          <a:noFill/>
          <a:ln/>
        </p:spPr>
        <p:txBody>
          <a:bodyPr wrap="square" lIns="0" tIns="0" rIns="0" bIns="0" rtlCol="0" anchor="ctr"/>
          <a:lstStyle/>
          <a:p>
            <a:pPr marL="0" indent="0">
              <a:buNone/>
            </a:pPr>
            <a:r>
              <a:rPr lang="en-US" sz="1200" dirty="0">
                <a:solidFill>
                  <a:srgbClr val="1F2A3C"/>
                </a:solidFill>
                <a:latin typeface="Arial" pitchFamily="34" charset="0"/>
                <a:ea typeface="Arial" pitchFamily="34" charset="-122"/>
                <a:cs typeface="Arial" pitchFamily="34" charset="-120"/>
              </a:rPr>
              <a:t>games listed on Steam (raw catalogue)</a:t>
            </a:r>
            <a:endParaRPr lang="en-US" sz="1200" dirty="0"/>
          </a:p>
        </p:txBody>
      </p:sp>
      <p:sp>
        <p:nvSpPr>
          <p:cNvPr id="9" name="Shape 7"/>
          <p:cNvSpPr/>
          <p:nvPr/>
        </p:nvSpPr>
        <p:spPr>
          <a:xfrm>
            <a:off x="457200" y="2350008"/>
            <a:ext cx="3291840" cy="896112"/>
          </a:xfrm>
          <a:prstGeom prst="roundRect">
            <a:avLst>
              <a:gd name="adj" fmla="val 8163"/>
            </a:avLst>
          </a:prstGeom>
          <a:solidFill>
            <a:srgbClr val="EEF2F7"/>
          </a:solidFill>
          <a:ln w="12700">
            <a:solidFill>
              <a:srgbClr val="EEF2F7"/>
            </a:solidFill>
            <a:prstDash val="solid"/>
          </a:ln>
        </p:spPr>
        <p:txBody>
          <a:bodyPr/>
          <a:lstStyle/>
          <a:p>
            <a:endParaRPr lang="en-US"/>
          </a:p>
        </p:txBody>
      </p:sp>
      <p:sp>
        <p:nvSpPr>
          <p:cNvPr id="10" name="Text 8"/>
          <p:cNvSpPr txBox="1"/>
          <p:nvPr/>
        </p:nvSpPr>
        <p:spPr>
          <a:xfrm>
            <a:off x="640080" y="2423160"/>
            <a:ext cx="3017520" cy="457200"/>
          </a:xfrm>
          <a:prstGeom prst="rect">
            <a:avLst/>
          </a:prstGeom>
          <a:noFill/>
          <a:ln/>
        </p:spPr>
        <p:txBody>
          <a:bodyPr wrap="square" lIns="0" tIns="0" rIns="0" bIns="0" rtlCol="0" anchor="ctr"/>
          <a:lstStyle/>
          <a:p>
            <a:pPr marL="0" indent="0">
              <a:buNone/>
            </a:pPr>
            <a:r>
              <a:rPr lang="en-US" sz="2600" b="1" dirty="0">
                <a:solidFill>
                  <a:srgbClr val="3D74CC"/>
                </a:solidFill>
                <a:latin typeface="Arial" pitchFamily="34" charset="0"/>
                <a:ea typeface="Arial" pitchFamily="34" charset="-122"/>
                <a:cs typeface="Arial" pitchFamily="34" charset="-120"/>
              </a:rPr>
              <a:t>39</a:t>
            </a:r>
            <a:endParaRPr lang="en-US" sz="2600" dirty="0"/>
          </a:p>
        </p:txBody>
      </p:sp>
      <p:sp>
        <p:nvSpPr>
          <p:cNvPr id="11" name="Text 9"/>
          <p:cNvSpPr txBox="1"/>
          <p:nvPr/>
        </p:nvSpPr>
        <p:spPr>
          <a:xfrm>
            <a:off x="640080" y="2862072"/>
            <a:ext cx="3017520" cy="320040"/>
          </a:xfrm>
          <a:prstGeom prst="rect">
            <a:avLst/>
          </a:prstGeom>
          <a:noFill/>
          <a:ln/>
        </p:spPr>
        <p:txBody>
          <a:bodyPr wrap="square" lIns="0" tIns="0" rIns="0" bIns="0" rtlCol="0" anchor="ctr"/>
          <a:lstStyle/>
          <a:p>
            <a:pPr marL="0" indent="0">
              <a:buNone/>
            </a:pPr>
            <a:r>
              <a:rPr lang="en-US" sz="1200" dirty="0">
                <a:solidFill>
                  <a:srgbClr val="1F2A3C"/>
                </a:solidFill>
                <a:latin typeface="Arial" pitchFamily="34" charset="0"/>
                <a:ea typeface="Arial" pitchFamily="34" charset="-122"/>
                <a:cs typeface="Arial" pitchFamily="34" charset="-120"/>
              </a:rPr>
              <a:t>features per game, from 5 kinds of information</a:t>
            </a:r>
            <a:endParaRPr lang="en-US" sz="1200" dirty="0"/>
          </a:p>
        </p:txBody>
      </p:sp>
      <p:sp>
        <p:nvSpPr>
          <p:cNvPr id="12" name="Shape 10"/>
          <p:cNvSpPr/>
          <p:nvPr/>
        </p:nvSpPr>
        <p:spPr>
          <a:xfrm>
            <a:off x="457200" y="3374136"/>
            <a:ext cx="3291840" cy="896112"/>
          </a:xfrm>
          <a:prstGeom prst="roundRect">
            <a:avLst>
              <a:gd name="adj" fmla="val 8163"/>
            </a:avLst>
          </a:prstGeom>
          <a:solidFill>
            <a:srgbClr val="EEF2F7"/>
          </a:solidFill>
          <a:ln w="12700">
            <a:solidFill>
              <a:srgbClr val="EEF2F7"/>
            </a:solidFill>
            <a:prstDash val="solid"/>
          </a:ln>
        </p:spPr>
        <p:txBody>
          <a:bodyPr/>
          <a:lstStyle/>
          <a:p>
            <a:endParaRPr lang="en-US"/>
          </a:p>
        </p:txBody>
      </p:sp>
      <p:sp>
        <p:nvSpPr>
          <p:cNvPr id="13" name="Text 11"/>
          <p:cNvSpPr txBox="1"/>
          <p:nvPr/>
        </p:nvSpPr>
        <p:spPr>
          <a:xfrm>
            <a:off x="640080" y="3447288"/>
            <a:ext cx="3017520" cy="457200"/>
          </a:xfrm>
          <a:prstGeom prst="rect">
            <a:avLst/>
          </a:prstGeom>
          <a:noFill/>
          <a:ln/>
        </p:spPr>
        <p:txBody>
          <a:bodyPr wrap="square" lIns="0" tIns="0" rIns="0" bIns="0" rtlCol="0" anchor="ctr"/>
          <a:lstStyle/>
          <a:p>
            <a:pPr marL="0" indent="0">
              <a:buNone/>
            </a:pPr>
            <a:r>
              <a:rPr lang="en-US" sz="2600" b="1" dirty="0">
                <a:solidFill>
                  <a:srgbClr val="3D74CC"/>
                </a:solidFill>
                <a:latin typeface="Arial" pitchFamily="34" charset="0"/>
                <a:ea typeface="Arial" pitchFamily="34" charset="-122"/>
                <a:cs typeface="Arial" pitchFamily="34" charset="-120"/>
              </a:rPr>
              <a:t>95,787</a:t>
            </a:r>
            <a:endParaRPr lang="en-US" sz="2600" dirty="0"/>
          </a:p>
        </p:txBody>
      </p:sp>
      <p:sp>
        <p:nvSpPr>
          <p:cNvPr id="14" name="Text 12"/>
          <p:cNvSpPr txBox="1"/>
          <p:nvPr/>
        </p:nvSpPr>
        <p:spPr>
          <a:xfrm>
            <a:off x="640080" y="3886200"/>
            <a:ext cx="3017520" cy="320040"/>
          </a:xfrm>
          <a:prstGeom prst="rect">
            <a:avLst/>
          </a:prstGeom>
          <a:noFill/>
          <a:ln/>
        </p:spPr>
        <p:txBody>
          <a:bodyPr wrap="square" lIns="0" tIns="0" rIns="0" bIns="0" rtlCol="0" anchor="ctr"/>
          <a:lstStyle/>
          <a:p>
            <a:pPr marL="0" indent="0">
              <a:buNone/>
            </a:pPr>
            <a:r>
              <a:rPr lang="en-US" sz="1200" dirty="0">
                <a:solidFill>
                  <a:srgbClr val="1F2A3C"/>
                </a:solidFill>
                <a:latin typeface="Arial" pitchFamily="34" charset="0"/>
                <a:ea typeface="Arial" pitchFamily="34" charset="-122"/>
                <a:cs typeface="Arial" pitchFamily="34" charset="-120"/>
              </a:rPr>
              <a:t>games kept after cleaning (see Keerat)</a:t>
            </a:r>
            <a:endParaRPr lang="en-US" sz="1200" dirty="0"/>
          </a:p>
        </p:txBody>
      </p:sp>
      <p:sp>
        <p:nvSpPr>
          <p:cNvPr id="15" name="Text 13"/>
          <p:cNvSpPr txBox="1"/>
          <p:nvPr/>
        </p:nvSpPr>
        <p:spPr>
          <a:xfrm>
            <a:off x="4023360" y="1325880"/>
            <a:ext cx="4663440" cy="457200"/>
          </a:xfrm>
          <a:prstGeom prst="rect">
            <a:avLst/>
          </a:prstGeom>
          <a:noFill/>
          <a:ln/>
        </p:spPr>
        <p:txBody>
          <a:bodyPr wrap="square" lIns="0" tIns="0" rIns="0" bIns="0" rtlCol="0" anchor="ctr"/>
          <a:lstStyle/>
          <a:p>
            <a:pPr marL="0" indent="0">
              <a:buNone/>
            </a:pPr>
            <a:r>
              <a:rPr lang="en-US" sz="1200" i="1" dirty="0">
                <a:solidFill>
                  <a:srgbClr val="6B6B6B"/>
                </a:solidFill>
                <a:latin typeface="Arial" pitchFamily="34" charset="0"/>
                <a:ea typeface="Arial" pitchFamily="34" charset="-122"/>
                <a:cs typeface="Arial" pitchFamily="34" charset="-120"/>
              </a:rPr>
              <a:t>Source: Kaggle "Steam Games Dataset" (FronkonGames), built from the Steam Store API and SteamSpy. Public and open.</a:t>
            </a:r>
            <a:endParaRPr lang="en-US" sz="1200" dirty="0"/>
          </a:p>
        </p:txBody>
      </p:sp>
      <p:sp>
        <p:nvSpPr>
          <p:cNvPr id="16" name="Shape 14"/>
          <p:cNvSpPr/>
          <p:nvPr/>
        </p:nvSpPr>
        <p:spPr>
          <a:xfrm>
            <a:off x="4023360" y="1984248"/>
            <a:ext cx="201168" cy="201168"/>
          </a:xfrm>
          <a:prstGeom prst="ellipse">
            <a:avLst/>
          </a:prstGeom>
          <a:solidFill>
            <a:srgbClr val="3D74CC"/>
          </a:solidFill>
          <a:ln w="12700">
            <a:solidFill>
              <a:srgbClr val="3D74CC"/>
            </a:solidFill>
            <a:prstDash val="solid"/>
          </a:ln>
        </p:spPr>
        <p:txBody>
          <a:bodyPr/>
          <a:lstStyle/>
          <a:p>
            <a:endParaRPr lang="en-US"/>
          </a:p>
        </p:txBody>
      </p:sp>
      <p:sp>
        <p:nvSpPr>
          <p:cNvPr id="17" name="Text 15"/>
          <p:cNvSpPr txBox="1"/>
          <p:nvPr/>
        </p:nvSpPr>
        <p:spPr>
          <a:xfrm>
            <a:off x="4389120" y="1874520"/>
            <a:ext cx="4297680" cy="475488"/>
          </a:xfrm>
          <a:prstGeom prst="rect">
            <a:avLst/>
          </a:prstGeom>
          <a:noFill/>
          <a:ln/>
        </p:spPr>
        <p:txBody>
          <a:bodyPr wrap="square" lIns="0" tIns="0" rIns="0" bIns="0" rtlCol="0" anchor="t"/>
          <a:lstStyle/>
          <a:p>
            <a:pPr marL="0" indent="0">
              <a:buNone/>
            </a:pPr>
            <a:r>
              <a:rPr lang="en-US" sz="1200" b="1" dirty="0">
                <a:solidFill>
                  <a:srgbClr val="1F2A3C"/>
                </a:solidFill>
                <a:latin typeface="Arial" pitchFamily="34" charset="0"/>
                <a:ea typeface="Arial" pitchFamily="34" charset="-122"/>
                <a:cs typeface="Arial" pitchFamily="34" charset="-120"/>
              </a:rPr>
              <a:t>Business choices</a:t>
            </a:r>
            <a:endParaRPr lang="en-US" sz="1200" dirty="0"/>
          </a:p>
          <a:p>
            <a:pPr marL="0" indent="0">
              <a:buNone/>
            </a:pPr>
            <a:r>
              <a:rPr lang="en-US" sz="1200" dirty="0">
                <a:solidFill>
                  <a:srgbClr val="6B6B6B"/>
                </a:solidFill>
                <a:latin typeface="Arial" pitchFamily="34" charset="0"/>
                <a:ea typeface="Arial" pitchFamily="34" charset="-122"/>
                <a:cs typeface="Arial" pitchFamily="34" charset="-120"/>
              </a:rPr>
              <a:t>Price, required age, DLC count</a:t>
            </a:r>
            <a:endParaRPr lang="en-US" sz="1200" dirty="0"/>
          </a:p>
        </p:txBody>
      </p:sp>
      <p:sp>
        <p:nvSpPr>
          <p:cNvPr id="18" name="Shape 16"/>
          <p:cNvSpPr/>
          <p:nvPr/>
        </p:nvSpPr>
        <p:spPr>
          <a:xfrm>
            <a:off x="4023360" y="2532888"/>
            <a:ext cx="201168" cy="201168"/>
          </a:xfrm>
          <a:prstGeom prst="ellipse">
            <a:avLst/>
          </a:prstGeom>
          <a:solidFill>
            <a:srgbClr val="3D74CC"/>
          </a:solidFill>
          <a:ln w="12700">
            <a:solidFill>
              <a:srgbClr val="3D74CC"/>
            </a:solidFill>
            <a:prstDash val="solid"/>
          </a:ln>
        </p:spPr>
        <p:txBody>
          <a:bodyPr/>
          <a:lstStyle/>
          <a:p>
            <a:endParaRPr lang="en-US"/>
          </a:p>
        </p:txBody>
      </p:sp>
      <p:sp>
        <p:nvSpPr>
          <p:cNvPr id="19" name="Text 17"/>
          <p:cNvSpPr txBox="1"/>
          <p:nvPr/>
        </p:nvSpPr>
        <p:spPr>
          <a:xfrm>
            <a:off x="4389120" y="2423160"/>
            <a:ext cx="4297680" cy="475488"/>
          </a:xfrm>
          <a:prstGeom prst="rect">
            <a:avLst/>
          </a:prstGeom>
          <a:noFill/>
          <a:ln/>
        </p:spPr>
        <p:txBody>
          <a:bodyPr wrap="square" lIns="0" tIns="0" rIns="0" bIns="0" rtlCol="0" anchor="t"/>
          <a:lstStyle/>
          <a:p>
            <a:pPr marL="0" indent="0">
              <a:buNone/>
            </a:pPr>
            <a:r>
              <a:rPr lang="en-US" sz="1200" b="1" dirty="0">
                <a:solidFill>
                  <a:srgbClr val="1F2A3C"/>
                </a:solidFill>
                <a:latin typeface="Arial" pitchFamily="34" charset="0"/>
                <a:ea typeface="Arial" pitchFamily="34" charset="-122"/>
                <a:cs typeface="Arial" pitchFamily="34" charset="-120"/>
              </a:rPr>
              <a:t>Platform &amp; reach</a:t>
            </a:r>
            <a:endParaRPr lang="en-US" sz="1200" dirty="0"/>
          </a:p>
          <a:p>
            <a:pPr marL="0" indent="0">
              <a:buNone/>
            </a:pPr>
            <a:r>
              <a:rPr lang="en-US" sz="1200" dirty="0">
                <a:solidFill>
                  <a:srgbClr val="6B6B6B"/>
                </a:solidFill>
                <a:latin typeface="Arial" pitchFamily="34" charset="0"/>
                <a:ea typeface="Arial" pitchFamily="34" charset="-122"/>
                <a:cs typeface="Arial" pitchFamily="34" charset="-120"/>
              </a:rPr>
              <a:t>Windows / Mac / Linux, supported languages</a:t>
            </a:r>
            <a:endParaRPr lang="en-US" sz="1200" dirty="0"/>
          </a:p>
        </p:txBody>
      </p:sp>
      <p:sp>
        <p:nvSpPr>
          <p:cNvPr id="20" name="Shape 18"/>
          <p:cNvSpPr/>
          <p:nvPr/>
        </p:nvSpPr>
        <p:spPr>
          <a:xfrm>
            <a:off x="4023360" y="3081528"/>
            <a:ext cx="201168" cy="201168"/>
          </a:xfrm>
          <a:prstGeom prst="ellipse">
            <a:avLst/>
          </a:prstGeom>
          <a:solidFill>
            <a:srgbClr val="3D74CC"/>
          </a:solidFill>
          <a:ln w="12700">
            <a:solidFill>
              <a:srgbClr val="3D74CC"/>
            </a:solidFill>
            <a:prstDash val="solid"/>
          </a:ln>
        </p:spPr>
        <p:txBody>
          <a:bodyPr/>
          <a:lstStyle/>
          <a:p>
            <a:endParaRPr lang="en-US"/>
          </a:p>
        </p:txBody>
      </p:sp>
      <p:sp>
        <p:nvSpPr>
          <p:cNvPr id="21" name="Text 19"/>
          <p:cNvSpPr txBox="1"/>
          <p:nvPr/>
        </p:nvSpPr>
        <p:spPr>
          <a:xfrm>
            <a:off x="4389120" y="2971800"/>
            <a:ext cx="4297680" cy="475488"/>
          </a:xfrm>
          <a:prstGeom prst="rect">
            <a:avLst/>
          </a:prstGeom>
          <a:noFill/>
          <a:ln/>
        </p:spPr>
        <p:txBody>
          <a:bodyPr wrap="square" lIns="0" tIns="0" rIns="0" bIns="0" rtlCol="0" anchor="t"/>
          <a:lstStyle/>
          <a:p>
            <a:pPr marL="0" indent="0">
              <a:buNone/>
            </a:pPr>
            <a:r>
              <a:rPr lang="en-US" sz="1200" b="1" dirty="0">
                <a:solidFill>
                  <a:srgbClr val="1F2A3C"/>
                </a:solidFill>
                <a:latin typeface="Arial" pitchFamily="34" charset="0"/>
                <a:ea typeface="Arial" pitchFamily="34" charset="-122"/>
                <a:cs typeface="Arial" pitchFamily="34" charset="-120"/>
              </a:rPr>
              <a:t>Content &amp; store page</a:t>
            </a:r>
            <a:endParaRPr lang="en-US" sz="1200" dirty="0"/>
          </a:p>
          <a:p>
            <a:pPr marL="0" indent="0">
              <a:buNone/>
            </a:pPr>
            <a:r>
              <a:rPr lang="en-US" sz="1200" dirty="0">
                <a:solidFill>
                  <a:srgbClr val="6B6B6B"/>
                </a:solidFill>
                <a:latin typeface="Arial" pitchFamily="34" charset="0"/>
                <a:ea typeface="Arial" pitchFamily="34" charset="-122"/>
                <a:cs typeface="Arial" pitchFamily="34" charset="-120"/>
              </a:rPr>
              <a:t>Genres, categories, tags, screenshots, trailers</a:t>
            </a:r>
            <a:endParaRPr lang="en-US" sz="1200" dirty="0"/>
          </a:p>
        </p:txBody>
      </p:sp>
      <p:sp>
        <p:nvSpPr>
          <p:cNvPr id="22" name="Shape 20"/>
          <p:cNvSpPr/>
          <p:nvPr/>
        </p:nvSpPr>
        <p:spPr>
          <a:xfrm>
            <a:off x="4023360" y="3630168"/>
            <a:ext cx="201168" cy="201168"/>
          </a:xfrm>
          <a:prstGeom prst="ellipse">
            <a:avLst/>
          </a:prstGeom>
          <a:solidFill>
            <a:srgbClr val="3D74CC"/>
          </a:solidFill>
          <a:ln w="12700">
            <a:solidFill>
              <a:srgbClr val="3D74CC"/>
            </a:solidFill>
            <a:prstDash val="solid"/>
          </a:ln>
        </p:spPr>
        <p:txBody>
          <a:bodyPr/>
          <a:lstStyle/>
          <a:p>
            <a:endParaRPr lang="en-US"/>
          </a:p>
        </p:txBody>
      </p:sp>
      <p:sp>
        <p:nvSpPr>
          <p:cNvPr id="23" name="Text 21"/>
          <p:cNvSpPr txBox="1"/>
          <p:nvPr/>
        </p:nvSpPr>
        <p:spPr>
          <a:xfrm>
            <a:off x="4389120" y="3520440"/>
            <a:ext cx="4297680" cy="475488"/>
          </a:xfrm>
          <a:prstGeom prst="rect">
            <a:avLst/>
          </a:prstGeom>
          <a:noFill/>
          <a:ln/>
        </p:spPr>
        <p:txBody>
          <a:bodyPr wrap="square" lIns="0" tIns="0" rIns="0" bIns="0" rtlCol="0" anchor="t"/>
          <a:lstStyle/>
          <a:p>
            <a:pPr marL="0" indent="0">
              <a:buNone/>
            </a:pPr>
            <a:r>
              <a:rPr lang="en-US" sz="1200" b="1" dirty="0">
                <a:solidFill>
                  <a:srgbClr val="1F2A3C"/>
                </a:solidFill>
                <a:latin typeface="Arial" pitchFamily="34" charset="0"/>
                <a:ea typeface="Arial" pitchFamily="34" charset="-122"/>
                <a:cs typeface="Arial" pitchFamily="34" charset="-120"/>
              </a:rPr>
              <a:t>Who made it</a:t>
            </a:r>
            <a:endParaRPr lang="en-US" sz="1200" dirty="0"/>
          </a:p>
          <a:p>
            <a:pPr marL="0" indent="0">
              <a:buNone/>
            </a:pPr>
            <a:r>
              <a:rPr lang="en-US" sz="1200" dirty="0">
                <a:solidFill>
                  <a:srgbClr val="6B6B6B"/>
                </a:solidFill>
                <a:latin typeface="Arial" pitchFamily="34" charset="0"/>
                <a:ea typeface="Arial" pitchFamily="34" charset="-122"/>
                <a:cs typeface="Arial" pitchFamily="34" charset="-120"/>
              </a:rPr>
              <a:t>Developers, publishers, release date</a:t>
            </a:r>
            <a:endParaRPr lang="en-US" sz="1200" dirty="0"/>
          </a:p>
        </p:txBody>
      </p:sp>
      <p:sp>
        <p:nvSpPr>
          <p:cNvPr id="24" name="Shape 22"/>
          <p:cNvSpPr/>
          <p:nvPr/>
        </p:nvSpPr>
        <p:spPr>
          <a:xfrm>
            <a:off x="4023360" y="4178808"/>
            <a:ext cx="201168" cy="201168"/>
          </a:xfrm>
          <a:prstGeom prst="ellipse">
            <a:avLst/>
          </a:prstGeom>
          <a:solidFill>
            <a:srgbClr val="D9693A"/>
          </a:solidFill>
          <a:ln w="12700">
            <a:solidFill>
              <a:srgbClr val="D9693A"/>
            </a:solidFill>
            <a:prstDash val="solid"/>
          </a:ln>
        </p:spPr>
        <p:txBody>
          <a:bodyPr/>
          <a:lstStyle/>
          <a:p>
            <a:endParaRPr lang="en-US"/>
          </a:p>
        </p:txBody>
      </p:sp>
      <p:sp>
        <p:nvSpPr>
          <p:cNvPr id="25" name="Text 23"/>
          <p:cNvSpPr txBox="1"/>
          <p:nvPr/>
        </p:nvSpPr>
        <p:spPr>
          <a:xfrm>
            <a:off x="4389120" y="4069080"/>
            <a:ext cx="4297680" cy="475488"/>
          </a:xfrm>
          <a:prstGeom prst="rect">
            <a:avLst/>
          </a:prstGeom>
          <a:noFill/>
          <a:ln/>
        </p:spPr>
        <p:txBody>
          <a:bodyPr wrap="square" lIns="0" tIns="0" rIns="0" bIns="0" rtlCol="0" anchor="t"/>
          <a:lstStyle/>
          <a:p>
            <a:pPr marL="0" indent="0">
              <a:buNone/>
            </a:pPr>
            <a:r>
              <a:rPr lang="en-US" sz="1200" b="1" dirty="0">
                <a:solidFill>
                  <a:srgbClr val="1F2A3C"/>
                </a:solidFill>
                <a:latin typeface="Arial" pitchFamily="34" charset="0"/>
                <a:ea typeface="Arial" pitchFamily="34" charset="-122"/>
                <a:cs typeface="Arial" pitchFamily="34" charset="-120"/>
              </a:rPr>
              <a:t>Outcomes (after launch)</a:t>
            </a:r>
            <a:endParaRPr lang="en-US" sz="1200" dirty="0"/>
          </a:p>
          <a:p>
            <a:pPr marL="0" indent="0">
              <a:buNone/>
            </a:pPr>
            <a:r>
              <a:rPr lang="en-US" sz="1200" dirty="0">
                <a:solidFill>
                  <a:srgbClr val="6B6B6B"/>
                </a:solidFill>
                <a:latin typeface="Arial" pitchFamily="34" charset="0"/>
                <a:ea typeface="Arial" pitchFamily="34" charset="-122"/>
                <a:cs typeface="Arial" pitchFamily="34" charset="-120"/>
              </a:rPr>
              <a:t>Estimated owners, reviews, playtime, peak players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200" b="1" dirty="0">
                <a:solidFill>
                  <a:srgbClr val="3D74CC"/>
                </a:solidFill>
                <a:latin typeface="Arial" pitchFamily="34" charset="0"/>
                <a:ea typeface="Arial" pitchFamily="34" charset="-122"/>
                <a:cs typeface="Arial" pitchFamily="34" charset="-120"/>
              </a:rPr>
              <a:t>DATASET INTRODUCTION &amp; MOTIVATION</a:t>
            </a:r>
            <a:endParaRPr lang="en-US" sz="12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marL="0" indent="0">
              <a:buNone/>
            </a:pPr>
            <a:r>
              <a:rPr lang="en-US" sz="2600" b="1" dirty="0">
                <a:solidFill>
                  <a:srgbClr val="1F2A3C"/>
                </a:solidFill>
                <a:latin typeface="Arial" pitchFamily="34" charset="0"/>
                <a:ea typeface="Arial" pitchFamily="34" charset="-122"/>
                <a:cs typeface="Arial" pitchFamily="34" charset="-120"/>
              </a:rPr>
              <a:t>Why this dataset fits our question</a:t>
            </a:r>
            <a:endParaRPr lang="en-US" sz="2600" dirty="0"/>
          </a:p>
        </p:txBody>
      </p:sp>
      <p:sp>
        <p:nvSpPr>
          <p:cNvPr id="4" name="Text 2"/>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6B6B6B"/>
                </a:solidFill>
                <a:latin typeface="Arial" pitchFamily="34" charset="0"/>
                <a:ea typeface="Arial" pitchFamily="34" charset="-122"/>
                <a:cs typeface="Arial" pitchFamily="34" charset="-120"/>
              </a:rPr>
              <a:t>Dataset introduction &amp; ML direction · Chinmayi</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6B6B6B"/>
                </a:solidFill>
                <a:latin typeface="Arial" pitchFamily="34" charset="0"/>
                <a:ea typeface="Arial" pitchFamily="34" charset="-122"/>
                <a:cs typeface="Arial" pitchFamily="34" charset="-120"/>
              </a:rPr>
              <a:t>2</a:t>
            </a:r>
            <a:endParaRPr lang="en-US" sz="900" dirty="0"/>
          </a:p>
        </p:txBody>
      </p:sp>
      <p:sp>
        <p:nvSpPr>
          <p:cNvPr id="6" name="Text 4"/>
          <p:cNvSpPr txBox="1"/>
          <p:nvPr/>
        </p:nvSpPr>
        <p:spPr>
          <a:xfrm>
            <a:off x="457200" y="1188720"/>
            <a:ext cx="8229600" cy="365760"/>
          </a:xfrm>
          <a:prstGeom prst="rect">
            <a:avLst/>
          </a:prstGeom>
          <a:noFill/>
          <a:ln/>
        </p:spPr>
        <p:txBody>
          <a:bodyPr wrap="square" lIns="0" tIns="0" rIns="0" bIns="0" rtlCol="0" anchor="ctr"/>
          <a:lstStyle/>
          <a:p>
            <a:pPr marL="0" indent="0">
              <a:buNone/>
            </a:pPr>
            <a:r>
              <a:rPr lang="en-US" sz="1300" i="1" dirty="0">
                <a:solidFill>
                  <a:srgbClr val="1F2A3C"/>
                </a:solidFill>
                <a:latin typeface="Arial" pitchFamily="34" charset="0"/>
                <a:ea typeface="Arial" pitchFamily="34" charset="-122"/>
                <a:cs typeface="Arial" pitchFamily="34" charset="-120"/>
              </a:rPr>
              <a:t>Our question: what makes a Steam game commercially successful, and can we predict it before release?</a:t>
            </a:r>
            <a:endParaRPr lang="en-US" sz="1300" dirty="0"/>
          </a:p>
        </p:txBody>
      </p:sp>
      <p:sp>
        <p:nvSpPr>
          <p:cNvPr id="7" name="Text 5"/>
          <p:cNvSpPr txBox="1"/>
          <p:nvPr/>
        </p:nvSpPr>
        <p:spPr>
          <a:xfrm>
            <a:off x="457200" y="1691640"/>
            <a:ext cx="3840480" cy="320040"/>
          </a:xfrm>
          <a:prstGeom prst="rect">
            <a:avLst/>
          </a:prstGeom>
          <a:noFill/>
          <a:ln/>
        </p:spPr>
        <p:txBody>
          <a:bodyPr wrap="square" lIns="0" tIns="0" rIns="0" bIns="0" rtlCol="0" anchor="ctr"/>
          <a:lstStyle/>
          <a:p>
            <a:pPr marL="0" indent="0">
              <a:buNone/>
            </a:pPr>
            <a:r>
              <a:rPr lang="en-US" sz="1600" b="1" dirty="0">
                <a:solidFill>
                  <a:srgbClr val="1F2A3C"/>
                </a:solidFill>
                <a:latin typeface="Arial" pitchFamily="34" charset="0"/>
                <a:ea typeface="Arial" pitchFamily="34" charset="-122"/>
                <a:cs typeface="Arial" pitchFamily="34" charset="-120"/>
              </a:rPr>
              <a:t>Why we chose it</a:t>
            </a:r>
            <a:endParaRPr lang="en-US" sz="1600" dirty="0"/>
          </a:p>
        </p:txBody>
      </p:sp>
      <p:sp>
        <p:nvSpPr>
          <p:cNvPr id="8" name="Text 6"/>
          <p:cNvSpPr txBox="1"/>
          <p:nvPr/>
        </p:nvSpPr>
        <p:spPr>
          <a:xfrm>
            <a:off x="457200" y="2057400"/>
            <a:ext cx="384048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A3C"/>
                </a:solidFill>
                <a:latin typeface="Arial" pitchFamily="34" charset="0"/>
                <a:ea typeface="Arial" pitchFamily="34" charset="-122"/>
                <a:cs typeface="Arial" pitchFamily="34" charset="-120"/>
              </a:rPr>
              <a:t>It has a success measure: estimated owners</a:t>
            </a:r>
            <a:endParaRPr lang="en-US" sz="1300" dirty="0"/>
          </a:p>
          <a:p>
            <a:pPr marL="342900" indent="-342900">
              <a:spcAft>
                <a:spcPts val="800"/>
              </a:spcAft>
              <a:buSzPct val="100000"/>
              <a:buChar char="•"/>
            </a:pPr>
            <a:r>
              <a:rPr lang="en-US" sz="1300" dirty="0">
                <a:solidFill>
                  <a:srgbClr val="1F2A3C"/>
                </a:solidFill>
                <a:latin typeface="Arial" pitchFamily="34" charset="0"/>
                <a:ea typeface="Arial" pitchFamily="34" charset="-122"/>
                <a:cs typeface="Arial" pitchFamily="34" charset="-120"/>
              </a:rPr>
              <a:t>It records decisions made before launch: price, genre, platforms, languages, publisher</a:t>
            </a:r>
            <a:endParaRPr lang="en-US" sz="1300" dirty="0"/>
          </a:p>
          <a:p>
            <a:pPr marL="342900" indent="-342900">
              <a:spcAft>
                <a:spcPts val="800"/>
              </a:spcAft>
              <a:buSzPct val="100000"/>
              <a:buChar char="•"/>
            </a:pPr>
            <a:r>
              <a:rPr lang="en-US" sz="1300" dirty="0">
                <a:solidFill>
                  <a:srgbClr val="1F2A3C"/>
                </a:solidFill>
                <a:latin typeface="Arial" pitchFamily="34" charset="0"/>
                <a:ea typeface="Arial" pitchFamily="34" charset="-122"/>
                <a:cs typeface="Arial" pitchFamily="34" charset="-120"/>
              </a:rPr>
              <a:t>It covers the whole market, from small niche games to blockbusters, for almost 20 years</a:t>
            </a:r>
            <a:endParaRPr lang="en-US" sz="1300" dirty="0"/>
          </a:p>
          <a:p>
            <a:pPr marL="342900" indent="-342900">
              <a:spcAft>
                <a:spcPts val="800"/>
              </a:spcAft>
              <a:buSzPct val="100000"/>
              <a:buChar char="•"/>
            </a:pPr>
            <a:r>
              <a:rPr lang="en-US" sz="1300" dirty="0">
                <a:solidFill>
                  <a:srgbClr val="1F2A3C"/>
                </a:solidFill>
                <a:latin typeface="Arial" pitchFamily="34" charset="0"/>
                <a:ea typeface="Arial" pitchFamily="34" charset="-122"/>
                <a:cs typeface="Arial" pitchFamily="34" charset="-120"/>
              </a:rPr>
              <a:t>It supports both EDA and a predictive model</a:t>
            </a:r>
            <a:endParaRPr lang="en-US" sz="1300" dirty="0"/>
          </a:p>
        </p:txBody>
      </p:sp>
      <p:sp>
        <p:nvSpPr>
          <p:cNvPr id="9" name="Text 7"/>
          <p:cNvSpPr txBox="1"/>
          <p:nvPr/>
        </p:nvSpPr>
        <p:spPr>
          <a:xfrm>
            <a:off x="4663440" y="1691640"/>
            <a:ext cx="4023360" cy="320040"/>
          </a:xfrm>
          <a:prstGeom prst="rect">
            <a:avLst/>
          </a:prstGeom>
          <a:noFill/>
          <a:ln/>
        </p:spPr>
        <p:txBody>
          <a:bodyPr wrap="square" lIns="0" tIns="0" rIns="0" bIns="0" rtlCol="0" anchor="ctr"/>
          <a:lstStyle/>
          <a:p>
            <a:pPr marL="0" indent="0">
              <a:buNone/>
            </a:pPr>
            <a:r>
              <a:rPr lang="en-US" sz="1600" b="1" dirty="0">
                <a:solidFill>
                  <a:srgbClr val="1F2A3C"/>
                </a:solidFill>
                <a:latin typeface="Arial" pitchFamily="34" charset="0"/>
                <a:ea typeface="Arial" pitchFamily="34" charset="-122"/>
                <a:cs typeface="Arial" pitchFamily="34" charset="-120"/>
              </a:rPr>
              <a:t>Why it is complex</a:t>
            </a:r>
            <a:endParaRPr lang="en-US" sz="1600" dirty="0"/>
          </a:p>
        </p:txBody>
      </p:sp>
      <p:sp>
        <p:nvSpPr>
          <p:cNvPr id="10" name="Shape 8"/>
          <p:cNvSpPr/>
          <p:nvPr/>
        </p:nvSpPr>
        <p:spPr>
          <a:xfrm>
            <a:off x="4663440" y="2057400"/>
            <a:ext cx="4023360" cy="566928"/>
          </a:xfrm>
          <a:prstGeom prst="roundRect">
            <a:avLst>
              <a:gd name="adj" fmla="val 12903"/>
            </a:avLst>
          </a:prstGeom>
          <a:solidFill>
            <a:srgbClr val="EEF2F7"/>
          </a:solidFill>
          <a:ln w="12700">
            <a:solidFill>
              <a:srgbClr val="EEF2F7"/>
            </a:solidFill>
            <a:prstDash val="solid"/>
          </a:ln>
        </p:spPr>
        <p:txBody>
          <a:bodyPr/>
          <a:lstStyle/>
          <a:p>
            <a:endParaRPr lang="en-US"/>
          </a:p>
        </p:txBody>
      </p:sp>
      <p:sp>
        <p:nvSpPr>
          <p:cNvPr id="11" name="Text 9"/>
          <p:cNvSpPr txBox="1"/>
          <p:nvPr/>
        </p:nvSpPr>
        <p:spPr>
          <a:xfrm>
            <a:off x="4800600" y="2093976"/>
            <a:ext cx="3794760" cy="493776"/>
          </a:xfrm>
          <a:prstGeom prst="rect">
            <a:avLst/>
          </a:prstGeom>
          <a:noFill/>
          <a:ln/>
        </p:spPr>
        <p:txBody>
          <a:bodyPr wrap="square" lIns="0" tIns="0" rIns="0" bIns="0" rtlCol="0" anchor="ctr"/>
          <a:lstStyle/>
          <a:p>
            <a:pPr marL="0" indent="0">
              <a:buNone/>
            </a:pPr>
            <a:r>
              <a:rPr lang="en-US" sz="1100" b="1" dirty="0">
                <a:solidFill>
                  <a:srgbClr val="3D74CC"/>
                </a:solidFill>
                <a:latin typeface="Arial" pitchFamily="34" charset="0"/>
                <a:ea typeface="Arial" pitchFamily="34" charset="-122"/>
                <a:cs typeface="Arial" pitchFamily="34" charset="-120"/>
              </a:rPr>
              <a:t>List fields: </a:t>
            </a:r>
            <a:r>
              <a:rPr lang="en-US" sz="1100" dirty="0">
                <a:solidFill>
                  <a:srgbClr val="1F2A3C"/>
                </a:solidFill>
                <a:latin typeface="Arial" pitchFamily="34" charset="0"/>
                <a:ea typeface="Arial" pitchFamily="34" charset="-122"/>
                <a:cs typeface="Arial" pitchFamily="34" charset="-120"/>
              </a:rPr>
              <a:t>Genres, tags and languages are comma-separated lists that become many 0/1 columns</a:t>
            </a:r>
            <a:endParaRPr lang="en-US" sz="1100" dirty="0"/>
          </a:p>
        </p:txBody>
      </p:sp>
      <p:sp>
        <p:nvSpPr>
          <p:cNvPr id="12" name="Shape 10"/>
          <p:cNvSpPr/>
          <p:nvPr/>
        </p:nvSpPr>
        <p:spPr>
          <a:xfrm>
            <a:off x="4663440" y="2715768"/>
            <a:ext cx="4023360" cy="566928"/>
          </a:xfrm>
          <a:prstGeom prst="roundRect">
            <a:avLst>
              <a:gd name="adj" fmla="val 12903"/>
            </a:avLst>
          </a:prstGeom>
          <a:solidFill>
            <a:srgbClr val="EEF2F7"/>
          </a:solidFill>
          <a:ln w="12700">
            <a:solidFill>
              <a:srgbClr val="EEF2F7"/>
            </a:solidFill>
            <a:prstDash val="solid"/>
          </a:ln>
        </p:spPr>
        <p:txBody>
          <a:bodyPr/>
          <a:lstStyle/>
          <a:p>
            <a:endParaRPr lang="en-US"/>
          </a:p>
        </p:txBody>
      </p:sp>
      <p:sp>
        <p:nvSpPr>
          <p:cNvPr id="13" name="Text 11"/>
          <p:cNvSpPr txBox="1"/>
          <p:nvPr/>
        </p:nvSpPr>
        <p:spPr>
          <a:xfrm>
            <a:off x="4800600" y="2752344"/>
            <a:ext cx="3794760" cy="493776"/>
          </a:xfrm>
          <a:prstGeom prst="rect">
            <a:avLst/>
          </a:prstGeom>
          <a:noFill/>
          <a:ln/>
        </p:spPr>
        <p:txBody>
          <a:bodyPr wrap="square" lIns="0" tIns="0" rIns="0" bIns="0" rtlCol="0" anchor="ctr"/>
          <a:lstStyle/>
          <a:p>
            <a:pPr marL="0" indent="0">
              <a:buNone/>
            </a:pPr>
            <a:r>
              <a:rPr lang="en-US" sz="1100" b="1" dirty="0">
                <a:solidFill>
                  <a:srgbClr val="3D74CC"/>
                </a:solidFill>
                <a:latin typeface="Arial" pitchFamily="34" charset="0"/>
                <a:ea typeface="Arial" pitchFamily="34" charset="-122"/>
                <a:cs typeface="Arial" pitchFamily="34" charset="-120"/>
              </a:rPr>
              <a:t>Target is a range: </a:t>
            </a:r>
            <a:r>
              <a:rPr lang="en-US" sz="1100" dirty="0">
                <a:solidFill>
                  <a:srgbClr val="1F2A3C"/>
                </a:solidFill>
                <a:latin typeface="Arial" pitchFamily="34" charset="0"/>
                <a:ea typeface="Arial" pitchFamily="34" charset="-122"/>
                <a:cs typeface="Arial" pitchFamily="34" charset="-120"/>
              </a:rPr>
              <a:t>Owners are tiers like "0 – 20,000", not exact counts</a:t>
            </a:r>
            <a:endParaRPr lang="en-US" sz="1100" dirty="0"/>
          </a:p>
        </p:txBody>
      </p:sp>
      <p:sp>
        <p:nvSpPr>
          <p:cNvPr id="14" name="Shape 12"/>
          <p:cNvSpPr/>
          <p:nvPr/>
        </p:nvSpPr>
        <p:spPr>
          <a:xfrm>
            <a:off x="4663440" y="3374136"/>
            <a:ext cx="4023360" cy="566928"/>
          </a:xfrm>
          <a:prstGeom prst="roundRect">
            <a:avLst>
              <a:gd name="adj" fmla="val 12903"/>
            </a:avLst>
          </a:prstGeom>
          <a:solidFill>
            <a:srgbClr val="EEF2F7"/>
          </a:solidFill>
          <a:ln w="12700">
            <a:solidFill>
              <a:srgbClr val="EEF2F7"/>
            </a:solidFill>
            <a:prstDash val="solid"/>
          </a:ln>
        </p:spPr>
        <p:txBody>
          <a:bodyPr/>
          <a:lstStyle/>
          <a:p>
            <a:endParaRPr lang="en-US"/>
          </a:p>
        </p:txBody>
      </p:sp>
      <p:sp>
        <p:nvSpPr>
          <p:cNvPr id="15" name="Text 13"/>
          <p:cNvSpPr txBox="1"/>
          <p:nvPr/>
        </p:nvSpPr>
        <p:spPr>
          <a:xfrm>
            <a:off x="4800600" y="3410712"/>
            <a:ext cx="3794760" cy="493776"/>
          </a:xfrm>
          <a:prstGeom prst="rect">
            <a:avLst/>
          </a:prstGeom>
          <a:noFill/>
          <a:ln/>
        </p:spPr>
        <p:txBody>
          <a:bodyPr wrap="square" lIns="0" tIns="0" rIns="0" bIns="0" rtlCol="0" anchor="ctr"/>
          <a:lstStyle/>
          <a:p>
            <a:pPr marL="0" indent="0">
              <a:buNone/>
            </a:pPr>
            <a:r>
              <a:rPr lang="en-US" sz="1100" b="1" dirty="0">
                <a:solidFill>
                  <a:srgbClr val="3D74CC"/>
                </a:solidFill>
                <a:latin typeface="Arial" pitchFamily="34" charset="0"/>
                <a:ea typeface="Arial" pitchFamily="34" charset="-122"/>
                <a:cs typeface="Arial" pitchFamily="34" charset="-120"/>
              </a:rPr>
              <a:t>Extreme skew: </a:t>
            </a:r>
            <a:r>
              <a:rPr lang="en-US" sz="1100" dirty="0">
                <a:solidFill>
                  <a:srgbClr val="1F2A3C"/>
                </a:solidFill>
                <a:latin typeface="Arial" pitchFamily="34" charset="0"/>
                <a:ea typeface="Arial" pitchFamily="34" charset="-122"/>
                <a:cs typeface="Arial" pitchFamily="34" charset="-120"/>
              </a:rPr>
              <a:t>Most games sell little; a few popular ones dominate</a:t>
            </a:r>
            <a:endParaRPr lang="en-US" sz="1100" dirty="0"/>
          </a:p>
        </p:txBody>
      </p:sp>
      <p:sp>
        <p:nvSpPr>
          <p:cNvPr id="16" name="Shape 14"/>
          <p:cNvSpPr/>
          <p:nvPr/>
        </p:nvSpPr>
        <p:spPr>
          <a:xfrm>
            <a:off x="4663440" y="4032504"/>
            <a:ext cx="4023360" cy="566928"/>
          </a:xfrm>
          <a:prstGeom prst="roundRect">
            <a:avLst>
              <a:gd name="adj" fmla="val 12903"/>
            </a:avLst>
          </a:prstGeom>
          <a:solidFill>
            <a:srgbClr val="EEF2F7"/>
          </a:solidFill>
          <a:ln w="12700">
            <a:solidFill>
              <a:srgbClr val="EEF2F7"/>
            </a:solidFill>
            <a:prstDash val="solid"/>
          </a:ln>
        </p:spPr>
        <p:txBody>
          <a:bodyPr/>
          <a:lstStyle/>
          <a:p>
            <a:endParaRPr lang="en-US"/>
          </a:p>
        </p:txBody>
      </p:sp>
      <p:sp>
        <p:nvSpPr>
          <p:cNvPr id="17" name="Text 15"/>
          <p:cNvSpPr txBox="1"/>
          <p:nvPr/>
        </p:nvSpPr>
        <p:spPr>
          <a:xfrm>
            <a:off x="4800600" y="4069080"/>
            <a:ext cx="3794760" cy="493776"/>
          </a:xfrm>
          <a:prstGeom prst="rect">
            <a:avLst/>
          </a:prstGeom>
          <a:noFill/>
          <a:ln/>
        </p:spPr>
        <p:txBody>
          <a:bodyPr wrap="square" lIns="0" tIns="0" rIns="0" bIns="0" rtlCol="0" anchor="ctr"/>
          <a:lstStyle/>
          <a:p>
            <a:pPr marL="0" indent="0">
              <a:buNone/>
            </a:pPr>
            <a:r>
              <a:rPr lang="en-US" sz="1100" b="1" dirty="0">
                <a:solidFill>
                  <a:srgbClr val="3D74CC"/>
                </a:solidFill>
                <a:latin typeface="Arial" pitchFamily="34" charset="0"/>
                <a:ea typeface="Arial" pitchFamily="34" charset="-122"/>
                <a:cs typeface="Arial" pitchFamily="34" charset="-120"/>
              </a:rPr>
              <a:t>Messy file: </a:t>
            </a:r>
            <a:r>
              <a:rPr lang="en-US" sz="1100" dirty="0">
                <a:solidFill>
                  <a:srgbClr val="1F2A3C"/>
                </a:solidFill>
                <a:latin typeface="Arial" pitchFamily="34" charset="0"/>
                <a:ea typeface="Arial" pitchFamily="34" charset="-122"/>
                <a:cs typeface="Arial" pitchFamily="34" charset="-120"/>
              </a:rPr>
              <a:t>Shifted header, disguised missing values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200" b="1" dirty="0">
                <a:solidFill>
                  <a:srgbClr val="3D74CC"/>
                </a:solidFill>
                <a:latin typeface="Arial" pitchFamily="34" charset="0"/>
                <a:ea typeface="Arial" pitchFamily="34" charset="-122"/>
                <a:cs typeface="Arial" pitchFamily="34" charset="-120"/>
              </a:rPr>
              <a:t>PRELIMINARY ML DIRECTION</a:t>
            </a:r>
            <a:endParaRPr lang="en-US" sz="12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marL="0" indent="0">
              <a:buNone/>
            </a:pPr>
            <a:r>
              <a:rPr lang="en-US" sz="2600" b="1" dirty="0">
                <a:solidFill>
                  <a:srgbClr val="1F2A3C"/>
                </a:solidFill>
                <a:latin typeface="Arial" pitchFamily="34" charset="0"/>
                <a:ea typeface="Arial" pitchFamily="34" charset="-122"/>
                <a:cs typeface="Arial" pitchFamily="34" charset="-120"/>
              </a:rPr>
              <a:t>Classification: Will a game reach 50K+ owners?</a:t>
            </a:r>
            <a:endParaRPr lang="en-US" sz="2600" dirty="0"/>
          </a:p>
        </p:txBody>
      </p:sp>
      <p:sp>
        <p:nvSpPr>
          <p:cNvPr id="4" name="Text 2"/>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6B6B6B"/>
                </a:solidFill>
                <a:latin typeface="Arial" pitchFamily="34" charset="0"/>
                <a:ea typeface="Arial" pitchFamily="34" charset="-122"/>
                <a:cs typeface="Arial" pitchFamily="34" charset="-120"/>
              </a:rPr>
              <a:t>Dataset introduction &amp; ML direction · Chinmayi</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6B6B6B"/>
                </a:solidFill>
                <a:latin typeface="Arial" pitchFamily="34" charset="0"/>
                <a:ea typeface="Arial" pitchFamily="34" charset="-122"/>
                <a:cs typeface="Arial" pitchFamily="34" charset="-120"/>
              </a:rPr>
              <a:t>3</a:t>
            </a:r>
            <a:endParaRPr lang="en-US" sz="900" dirty="0"/>
          </a:p>
        </p:txBody>
      </p:sp>
      <p:graphicFrame>
        <p:nvGraphicFramePr>
          <p:cNvPr id="6" name="Chart 0"/>
          <p:cNvGraphicFramePr/>
          <p:nvPr/>
        </p:nvGraphicFramePr>
        <p:xfrm>
          <a:off x="365760" y="1234440"/>
          <a:ext cx="393192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457200" y="4069080"/>
            <a:ext cx="3840480" cy="548640"/>
          </a:xfrm>
          <a:prstGeom prst="rect">
            <a:avLst/>
          </a:prstGeom>
          <a:noFill/>
          <a:ln/>
        </p:spPr>
        <p:txBody>
          <a:bodyPr wrap="square" lIns="0" tIns="0" rIns="0" bIns="0" rtlCol="0" anchor="ctr"/>
          <a:lstStyle/>
          <a:p>
            <a:pPr marL="0" indent="0">
              <a:buNone/>
            </a:pPr>
            <a:r>
              <a:rPr lang="en-US" sz="1100" i="1" dirty="0">
                <a:solidFill>
                  <a:srgbClr val="6B6B6B"/>
                </a:solidFill>
                <a:latin typeface="Arial" pitchFamily="34" charset="0"/>
                <a:ea typeface="Arial" pitchFamily="34" charset="-122"/>
                <a:cs typeface="Arial" pitchFamily="34" charset="-120"/>
              </a:rPr>
              <a:t>Why classification: owners only exist as tiers, so predicting an exact number would invent granularity the data does not have.</a:t>
            </a:r>
            <a:endParaRPr lang="en-US" sz="1100" dirty="0"/>
          </a:p>
        </p:txBody>
      </p:sp>
      <p:sp>
        <p:nvSpPr>
          <p:cNvPr id="8" name="Text 5"/>
          <p:cNvSpPr txBox="1"/>
          <p:nvPr/>
        </p:nvSpPr>
        <p:spPr>
          <a:xfrm>
            <a:off x="4663440" y="1234440"/>
            <a:ext cx="4023360" cy="320040"/>
          </a:xfrm>
          <a:prstGeom prst="rect">
            <a:avLst/>
          </a:prstGeom>
          <a:noFill/>
          <a:ln/>
        </p:spPr>
        <p:txBody>
          <a:bodyPr wrap="square" lIns="0" tIns="0" rIns="0" bIns="0" rtlCol="0" anchor="ctr"/>
          <a:lstStyle/>
          <a:p>
            <a:pPr marL="0" indent="0">
              <a:buNone/>
            </a:pPr>
            <a:r>
              <a:rPr lang="en-US" sz="1600" b="1" dirty="0">
                <a:solidFill>
                  <a:srgbClr val="1F2A3C"/>
                </a:solidFill>
                <a:latin typeface="Arial" pitchFamily="34" charset="0"/>
                <a:ea typeface="Arial" pitchFamily="34" charset="-122"/>
                <a:cs typeface="Arial" pitchFamily="34" charset="-120"/>
              </a:rPr>
              <a:t>72 pre-release features</a:t>
            </a:r>
            <a:endParaRPr lang="en-US" sz="1600" dirty="0"/>
          </a:p>
        </p:txBody>
      </p:sp>
      <p:sp>
        <p:nvSpPr>
          <p:cNvPr id="9" name="Shape 6"/>
          <p:cNvSpPr/>
          <p:nvPr/>
        </p:nvSpPr>
        <p:spPr>
          <a:xfrm>
            <a:off x="4663440" y="1600200"/>
            <a:ext cx="4023360" cy="1188720"/>
          </a:xfrm>
          <a:prstGeom prst="roundRect">
            <a:avLst>
              <a:gd name="adj" fmla="val 6154"/>
            </a:avLst>
          </a:prstGeom>
          <a:solidFill>
            <a:srgbClr val="EEF2F7"/>
          </a:solidFill>
          <a:ln w="12700">
            <a:solidFill>
              <a:srgbClr val="EEF2F7"/>
            </a:solidFill>
            <a:prstDash val="solid"/>
          </a:ln>
        </p:spPr>
        <p:txBody>
          <a:bodyPr/>
          <a:lstStyle/>
          <a:p>
            <a:endParaRPr lang="en-US"/>
          </a:p>
        </p:txBody>
      </p:sp>
      <p:sp>
        <p:nvSpPr>
          <p:cNvPr id="10" name="Text 7"/>
          <p:cNvSpPr txBox="1"/>
          <p:nvPr/>
        </p:nvSpPr>
        <p:spPr>
          <a:xfrm>
            <a:off x="4800600" y="1664208"/>
            <a:ext cx="3794760" cy="1078992"/>
          </a:xfrm>
          <a:prstGeom prst="rect">
            <a:avLst/>
          </a:prstGeom>
          <a:noFill/>
          <a:ln/>
        </p:spPr>
        <p:txBody>
          <a:bodyPr wrap="square" lIns="0" tIns="0" rIns="0" bIns="0" rtlCol="0" anchor="t"/>
          <a:lstStyle/>
          <a:p>
            <a:pPr marL="0" indent="0">
              <a:buNone/>
            </a:pPr>
            <a:r>
              <a:rPr lang="en-US" sz="1100" b="1" dirty="0">
                <a:solidFill>
                  <a:srgbClr val="3D74CC"/>
                </a:solidFill>
                <a:latin typeface="Arial" pitchFamily="34" charset="0"/>
                <a:ea typeface="Arial" pitchFamily="34" charset="-122"/>
                <a:cs typeface="Arial" pitchFamily="34" charset="-120"/>
              </a:rPr>
              <a:t>Use: known before launch</a:t>
            </a:r>
            <a:endParaRPr lang="en-US" sz="1100" dirty="0"/>
          </a:p>
          <a:p>
            <a:pPr marL="0" indent="0">
              <a:buNone/>
            </a:pPr>
            <a:r>
              <a:rPr lang="en-US" sz="1100" dirty="0">
                <a:solidFill>
                  <a:srgbClr val="1F2A3C"/>
                </a:solidFill>
                <a:latin typeface="Arial" pitchFamily="34" charset="0"/>
                <a:ea typeface="Arial" pitchFamily="34" charset="-122"/>
                <a:cs typeface="Arial" pitchFamily="34" charset="-120"/>
              </a:rPr>
              <a:t>Price, free-to-play · genres, categories (multiplayer, co-op, Workshop) · platform count · number of languages · release month &amp; weekday · publisher experience · screenshot &amp; trailer counts</a:t>
            </a:r>
            <a:endParaRPr lang="en-US" sz="1100" dirty="0"/>
          </a:p>
        </p:txBody>
      </p:sp>
      <p:sp>
        <p:nvSpPr>
          <p:cNvPr id="11" name="Shape 8"/>
          <p:cNvSpPr/>
          <p:nvPr/>
        </p:nvSpPr>
        <p:spPr>
          <a:xfrm>
            <a:off x="4663440" y="2971800"/>
            <a:ext cx="4023360" cy="868680"/>
          </a:xfrm>
          <a:prstGeom prst="roundRect">
            <a:avLst>
              <a:gd name="adj" fmla="val 8421"/>
            </a:avLst>
          </a:prstGeom>
          <a:solidFill>
            <a:srgbClr val="EEF2F7"/>
          </a:solidFill>
          <a:ln w="12700">
            <a:solidFill>
              <a:srgbClr val="EEF2F7"/>
            </a:solidFill>
            <a:prstDash val="solid"/>
          </a:ln>
        </p:spPr>
        <p:txBody>
          <a:bodyPr/>
          <a:lstStyle/>
          <a:p>
            <a:endParaRPr lang="en-US"/>
          </a:p>
        </p:txBody>
      </p:sp>
      <p:sp>
        <p:nvSpPr>
          <p:cNvPr id="12" name="Text 9"/>
          <p:cNvSpPr txBox="1"/>
          <p:nvPr/>
        </p:nvSpPr>
        <p:spPr>
          <a:xfrm>
            <a:off x="4800600" y="3035808"/>
            <a:ext cx="3794760" cy="749808"/>
          </a:xfrm>
          <a:prstGeom prst="rect">
            <a:avLst/>
          </a:prstGeom>
          <a:noFill/>
          <a:ln/>
        </p:spPr>
        <p:txBody>
          <a:bodyPr wrap="square" lIns="0" tIns="0" rIns="0" bIns="0" rtlCol="0" anchor="t"/>
          <a:lstStyle/>
          <a:p>
            <a:pPr marL="0" indent="0">
              <a:buNone/>
            </a:pPr>
            <a:r>
              <a:rPr lang="en-US" sz="1100" b="1" dirty="0">
                <a:solidFill>
                  <a:srgbClr val="D9693A"/>
                </a:solidFill>
                <a:latin typeface="Arial" pitchFamily="34" charset="0"/>
                <a:ea typeface="Arial" pitchFamily="34" charset="-122"/>
                <a:cs typeface="Arial" pitchFamily="34" charset="-120"/>
              </a:rPr>
              <a:t>Exclude: only known after launch (leakage)</a:t>
            </a:r>
            <a:endParaRPr lang="en-US" sz="1100" dirty="0"/>
          </a:p>
          <a:p>
            <a:pPr marL="0" indent="0">
              <a:buNone/>
            </a:pPr>
            <a:r>
              <a:rPr lang="en-US" sz="1100" dirty="0">
                <a:solidFill>
                  <a:srgbClr val="1F2A3C"/>
                </a:solidFill>
                <a:latin typeface="Arial" pitchFamily="34" charset="0"/>
                <a:ea typeface="Arial" pitchFamily="34" charset="-122"/>
                <a:cs typeface="Arial" pitchFamily="34" charset="-120"/>
              </a:rPr>
              <a:t>Reviews, user &amp; Metacritic scores · playtime · peak players · recommendations · DLC count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marL="0" indent="0">
              <a:buNone/>
            </a:pPr>
            <a:r>
              <a:rPr lang="en-US" sz="1200" b="1" dirty="0">
                <a:solidFill>
                  <a:srgbClr val="3D74CC"/>
                </a:solidFill>
                <a:latin typeface="Arial" pitchFamily="34" charset="0"/>
                <a:ea typeface="Arial" pitchFamily="34" charset="-122"/>
                <a:cs typeface="Arial" pitchFamily="34" charset="-120"/>
              </a:rPr>
              <a:t>PRELIMINARY ML DIRECTION</a:t>
            </a:r>
            <a:endParaRPr lang="en-US" sz="12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marL="0" indent="0">
              <a:buNone/>
            </a:pPr>
            <a:r>
              <a:rPr lang="en-US" sz="2600" b="1" dirty="0">
                <a:solidFill>
                  <a:srgbClr val="1F2A3C"/>
                </a:solidFill>
                <a:latin typeface="Arial" pitchFamily="34" charset="0"/>
                <a:ea typeface="Arial" pitchFamily="34" charset="-122"/>
                <a:cs typeface="Arial" pitchFamily="34" charset="-120"/>
              </a:rPr>
              <a:t>How our EDA findings shape the model</a:t>
            </a:r>
            <a:endParaRPr lang="en-US" sz="2600" dirty="0"/>
          </a:p>
        </p:txBody>
      </p:sp>
      <p:sp>
        <p:nvSpPr>
          <p:cNvPr id="4" name="Text 2"/>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6B6B6B"/>
                </a:solidFill>
                <a:latin typeface="Arial" pitchFamily="34" charset="0"/>
                <a:ea typeface="Arial" pitchFamily="34" charset="-122"/>
                <a:cs typeface="Arial" pitchFamily="34" charset="-120"/>
              </a:rPr>
              <a:t>Dataset introduction &amp; ML direction · Chinmayi</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6B6B6B"/>
                </a:solidFill>
                <a:latin typeface="Arial" pitchFamily="34" charset="0"/>
                <a:ea typeface="Arial" pitchFamily="34" charset="-122"/>
                <a:cs typeface="Arial" pitchFamily="34" charset="-120"/>
              </a:rPr>
              <a:t>4</a:t>
            </a:r>
            <a:endParaRPr lang="en-US" sz="900" dirty="0"/>
          </a:p>
        </p:txBody>
      </p:sp>
      <p:sp>
        <p:nvSpPr>
          <p:cNvPr id="6" name="Text 4"/>
          <p:cNvSpPr txBox="1"/>
          <p:nvPr/>
        </p:nvSpPr>
        <p:spPr>
          <a:xfrm>
            <a:off x="457200" y="1234440"/>
            <a:ext cx="3657600" cy="274320"/>
          </a:xfrm>
          <a:prstGeom prst="rect">
            <a:avLst/>
          </a:prstGeom>
          <a:noFill/>
          <a:ln/>
        </p:spPr>
        <p:txBody>
          <a:bodyPr wrap="square" lIns="0" tIns="0" rIns="0" bIns="0" rtlCol="0" anchor="ctr"/>
          <a:lstStyle/>
          <a:p>
            <a:pPr marL="0" indent="0">
              <a:buNone/>
            </a:pPr>
            <a:r>
              <a:rPr lang="en-US" sz="1200" b="1" dirty="0">
                <a:solidFill>
                  <a:srgbClr val="6B6B6B"/>
                </a:solidFill>
                <a:latin typeface="Arial" pitchFamily="34" charset="0"/>
                <a:ea typeface="Arial" pitchFamily="34" charset="-122"/>
                <a:cs typeface="Arial" pitchFamily="34" charset="-120"/>
              </a:rPr>
              <a:t>EDA finding</a:t>
            </a:r>
            <a:endParaRPr lang="en-US" sz="1200" dirty="0"/>
          </a:p>
        </p:txBody>
      </p:sp>
      <p:sp>
        <p:nvSpPr>
          <p:cNvPr id="7" name="Text 5"/>
          <p:cNvSpPr txBox="1"/>
          <p:nvPr/>
        </p:nvSpPr>
        <p:spPr>
          <a:xfrm>
            <a:off x="4572000" y="1234440"/>
            <a:ext cx="4114800" cy="274320"/>
          </a:xfrm>
          <a:prstGeom prst="rect">
            <a:avLst/>
          </a:prstGeom>
          <a:noFill/>
          <a:ln/>
        </p:spPr>
        <p:txBody>
          <a:bodyPr wrap="square" lIns="0" tIns="0" rIns="0" bIns="0" rtlCol="0" anchor="ctr"/>
          <a:lstStyle/>
          <a:p>
            <a:pPr marL="0" indent="0">
              <a:buNone/>
            </a:pPr>
            <a:r>
              <a:rPr lang="en-US" sz="1200" b="1" dirty="0">
                <a:solidFill>
                  <a:srgbClr val="6B6B6B"/>
                </a:solidFill>
                <a:latin typeface="Arial" pitchFamily="34" charset="0"/>
                <a:ea typeface="Arial" pitchFamily="34" charset="-122"/>
                <a:cs typeface="Arial" pitchFamily="34" charset="-120"/>
              </a:rPr>
              <a:t>ML decision</a:t>
            </a:r>
            <a:endParaRPr lang="en-US" sz="1200" dirty="0"/>
          </a:p>
        </p:txBody>
      </p:sp>
      <p:sp>
        <p:nvSpPr>
          <p:cNvPr id="8" name="Shape 6"/>
          <p:cNvSpPr/>
          <p:nvPr/>
        </p:nvSpPr>
        <p:spPr>
          <a:xfrm>
            <a:off x="457200" y="1572768"/>
            <a:ext cx="3657600" cy="530352"/>
          </a:xfrm>
          <a:prstGeom prst="roundRect">
            <a:avLst>
              <a:gd name="adj" fmla="val 13793"/>
            </a:avLst>
          </a:prstGeom>
          <a:solidFill>
            <a:srgbClr val="EEF2F7"/>
          </a:solidFill>
          <a:ln w="12700">
            <a:solidFill>
              <a:srgbClr val="EEF2F7"/>
            </a:solidFill>
            <a:prstDash val="solid"/>
          </a:ln>
        </p:spPr>
        <p:txBody>
          <a:bodyPr/>
          <a:lstStyle/>
          <a:p>
            <a:endParaRPr lang="en-US"/>
          </a:p>
        </p:txBody>
      </p:sp>
      <p:sp>
        <p:nvSpPr>
          <p:cNvPr id="9" name="Text 7"/>
          <p:cNvSpPr txBox="1"/>
          <p:nvPr/>
        </p:nvSpPr>
        <p:spPr>
          <a:xfrm>
            <a:off x="594360" y="1572768"/>
            <a:ext cx="3429000" cy="530352"/>
          </a:xfrm>
          <a:prstGeom prst="rect">
            <a:avLst/>
          </a:prstGeom>
          <a:noFill/>
          <a:ln/>
        </p:spPr>
        <p:txBody>
          <a:bodyPr wrap="square" lIns="0" tIns="0" rIns="0" bIns="0" rtlCol="0" anchor="ctr"/>
          <a:lstStyle/>
          <a:p>
            <a:pPr marL="0" indent="0">
              <a:buNone/>
            </a:pPr>
            <a:r>
              <a:rPr lang="en-US" sz="1200" b="1" dirty="0">
                <a:solidFill>
                  <a:srgbClr val="1F2A3C"/>
                </a:solidFill>
                <a:latin typeface="Arial" pitchFamily="34" charset="0"/>
                <a:ea typeface="Arial" pitchFamily="34" charset="-122"/>
                <a:cs typeface="Arial" pitchFamily="34" charset="-120"/>
              </a:rPr>
              <a:t>Only 14.6% of games are hits</a:t>
            </a:r>
            <a:endParaRPr lang="en-US" sz="1200" dirty="0"/>
          </a:p>
        </p:txBody>
      </p:sp>
      <p:sp>
        <p:nvSpPr>
          <p:cNvPr id="10" name="Shape 8"/>
          <p:cNvSpPr/>
          <p:nvPr/>
        </p:nvSpPr>
        <p:spPr>
          <a:xfrm>
            <a:off x="4206240" y="1728216"/>
            <a:ext cx="274320" cy="219456"/>
          </a:xfrm>
          <a:prstGeom prst="rightArrow">
            <a:avLst/>
          </a:prstGeom>
          <a:solidFill>
            <a:srgbClr val="3D74CC"/>
          </a:solidFill>
          <a:ln w="12700">
            <a:solidFill>
              <a:srgbClr val="3D74CC"/>
            </a:solidFill>
            <a:prstDash val="solid"/>
          </a:ln>
        </p:spPr>
        <p:txBody>
          <a:bodyPr/>
          <a:lstStyle/>
          <a:p>
            <a:endParaRPr lang="en-US"/>
          </a:p>
        </p:txBody>
      </p:sp>
      <p:sp>
        <p:nvSpPr>
          <p:cNvPr id="11" name="Text 9"/>
          <p:cNvSpPr txBox="1"/>
          <p:nvPr/>
        </p:nvSpPr>
        <p:spPr>
          <a:xfrm>
            <a:off x="4572000" y="1572768"/>
            <a:ext cx="4114800" cy="530352"/>
          </a:xfrm>
          <a:prstGeom prst="rect">
            <a:avLst/>
          </a:prstGeom>
          <a:noFill/>
          <a:ln/>
        </p:spPr>
        <p:txBody>
          <a:bodyPr wrap="square" lIns="0" tIns="0" rIns="0" bIns="0" rtlCol="0" anchor="ctr"/>
          <a:lstStyle/>
          <a:p>
            <a:pPr marL="0" indent="0">
              <a:buNone/>
            </a:pPr>
            <a:r>
              <a:rPr lang="en-US" sz="1200" dirty="0">
                <a:solidFill>
                  <a:srgbClr val="1F2A3C"/>
                </a:solidFill>
                <a:latin typeface="Arial" pitchFamily="34" charset="0"/>
                <a:ea typeface="Arial" pitchFamily="34" charset="-122"/>
                <a:cs typeface="Arial" pitchFamily="34" charset="-120"/>
              </a:rPr>
              <a:t>Class weights and judge by F1(combines precision and recall) and PR-AUC, not accuracy</a:t>
            </a:r>
            <a:endParaRPr lang="en-US" sz="1200" dirty="0"/>
          </a:p>
        </p:txBody>
      </p:sp>
      <p:sp>
        <p:nvSpPr>
          <p:cNvPr id="12" name="Shape 10"/>
          <p:cNvSpPr/>
          <p:nvPr/>
        </p:nvSpPr>
        <p:spPr>
          <a:xfrm>
            <a:off x="457200" y="2194560"/>
            <a:ext cx="3657600" cy="530352"/>
          </a:xfrm>
          <a:prstGeom prst="roundRect">
            <a:avLst>
              <a:gd name="adj" fmla="val 13793"/>
            </a:avLst>
          </a:prstGeom>
          <a:solidFill>
            <a:srgbClr val="EEF2F7"/>
          </a:solidFill>
          <a:ln w="12700">
            <a:solidFill>
              <a:srgbClr val="EEF2F7"/>
            </a:solidFill>
            <a:prstDash val="solid"/>
          </a:ln>
        </p:spPr>
        <p:txBody>
          <a:bodyPr/>
          <a:lstStyle/>
          <a:p>
            <a:endParaRPr lang="en-US"/>
          </a:p>
        </p:txBody>
      </p:sp>
      <p:sp>
        <p:nvSpPr>
          <p:cNvPr id="13" name="Text 11"/>
          <p:cNvSpPr txBox="1"/>
          <p:nvPr/>
        </p:nvSpPr>
        <p:spPr>
          <a:xfrm>
            <a:off x="594360" y="2194560"/>
            <a:ext cx="3429000" cy="530352"/>
          </a:xfrm>
          <a:prstGeom prst="rect">
            <a:avLst/>
          </a:prstGeom>
          <a:noFill/>
          <a:ln/>
        </p:spPr>
        <p:txBody>
          <a:bodyPr wrap="square" lIns="0" tIns="0" rIns="0" bIns="0" rtlCol="0" anchor="ctr"/>
          <a:lstStyle/>
          <a:p>
            <a:pPr marL="0" indent="0">
              <a:buNone/>
            </a:pPr>
            <a:r>
              <a:rPr lang="en-US" sz="1200" b="1" dirty="0">
                <a:solidFill>
                  <a:srgbClr val="1F2A3C"/>
                </a:solidFill>
                <a:latin typeface="Arial" pitchFamily="34" charset="0"/>
                <a:ea typeface="Arial" pitchFamily="34" charset="-122"/>
                <a:cs typeface="Arial" pitchFamily="34" charset="-120"/>
              </a:rPr>
              <a:t>Price effect is not a straight line ("sweet spot")</a:t>
            </a:r>
            <a:endParaRPr lang="en-US" sz="1200" dirty="0"/>
          </a:p>
        </p:txBody>
      </p:sp>
      <p:sp>
        <p:nvSpPr>
          <p:cNvPr id="14" name="Shape 12"/>
          <p:cNvSpPr/>
          <p:nvPr/>
        </p:nvSpPr>
        <p:spPr>
          <a:xfrm>
            <a:off x="4206240" y="2350008"/>
            <a:ext cx="274320" cy="219456"/>
          </a:xfrm>
          <a:prstGeom prst="rightArrow">
            <a:avLst/>
          </a:prstGeom>
          <a:solidFill>
            <a:srgbClr val="3D74CC"/>
          </a:solidFill>
          <a:ln w="12700">
            <a:solidFill>
              <a:srgbClr val="3D74CC"/>
            </a:solidFill>
            <a:prstDash val="solid"/>
          </a:ln>
        </p:spPr>
        <p:txBody>
          <a:bodyPr/>
          <a:lstStyle/>
          <a:p>
            <a:endParaRPr lang="en-US"/>
          </a:p>
        </p:txBody>
      </p:sp>
      <p:sp>
        <p:nvSpPr>
          <p:cNvPr id="15" name="Text 13"/>
          <p:cNvSpPr txBox="1"/>
          <p:nvPr/>
        </p:nvSpPr>
        <p:spPr>
          <a:xfrm>
            <a:off x="4572000" y="2194560"/>
            <a:ext cx="4114800" cy="530352"/>
          </a:xfrm>
          <a:prstGeom prst="rect">
            <a:avLst/>
          </a:prstGeom>
          <a:noFill/>
          <a:ln/>
        </p:spPr>
        <p:txBody>
          <a:bodyPr wrap="square" lIns="0" tIns="0" rIns="0" bIns="0" rtlCol="0" anchor="ctr"/>
          <a:lstStyle/>
          <a:p>
            <a:pPr marL="0" indent="0">
              <a:buNone/>
            </a:pPr>
            <a:r>
              <a:rPr lang="en-US" sz="1200" dirty="0">
                <a:solidFill>
                  <a:srgbClr val="1F2A3C"/>
                </a:solidFill>
                <a:latin typeface="Arial" pitchFamily="34" charset="0"/>
                <a:ea typeface="Arial" pitchFamily="34" charset="-122"/>
                <a:cs typeface="Arial" pitchFamily="34" charset="-120"/>
              </a:rPr>
              <a:t>Tree models (Random Forest, XGBoost) plus logistic regression as baseline</a:t>
            </a:r>
            <a:endParaRPr lang="en-US" sz="1200" dirty="0"/>
          </a:p>
        </p:txBody>
      </p:sp>
      <p:sp>
        <p:nvSpPr>
          <p:cNvPr id="16" name="Shape 14"/>
          <p:cNvSpPr/>
          <p:nvPr/>
        </p:nvSpPr>
        <p:spPr>
          <a:xfrm>
            <a:off x="457200" y="2816352"/>
            <a:ext cx="3657600" cy="530352"/>
          </a:xfrm>
          <a:prstGeom prst="roundRect">
            <a:avLst>
              <a:gd name="adj" fmla="val 13793"/>
            </a:avLst>
          </a:prstGeom>
          <a:solidFill>
            <a:srgbClr val="EEF2F7"/>
          </a:solidFill>
          <a:ln w="12700">
            <a:solidFill>
              <a:srgbClr val="EEF2F7"/>
            </a:solidFill>
            <a:prstDash val="solid"/>
          </a:ln>
        </p:spPr>
        <p:txBody>
          <a:bodyPr/>
          <a:lstStyle/>
          <a:p>
            <a:endParaRPr lang="en-US"/>
          </a:p>
        </p:txBody>
      </p:sp>
      <p:sp>
        <p:nvSpPr>
          <p:cNvPr id="17" name="Text 15"/>
          <p:cNvSpPr txBox="1"/>
          <p:nvPr/>
        </p:nvSpPr>
        <p:spPr>
          <a:xfrm>
            <a:off x="594360" y="2816352"/>
            <a:ext cx="3429000" cy="530352"/>
          </a:xfrm>
          <a:prstGeom prst="rect">
            <a:avLst/>
          </a:prstGeom>
          <a:noFill/>
          <a:ln/>
        </p:spPr>
        <p:txBody>
          <a:bodyPr wrap="square" lIns="0" tIns="0" rIns="0" bIns="0" rtlCol="0" anchor="ctr"/>
          <a:lstStyle/>
          <a:p>
            <a:pPr marL="0" indent="0">
              <a:buNone/>
            </a:pPr>
            <a:r>
              <a:rPr lang="en-US" sz="1200" b="1" dirty="0">
                <a:solidFill>
                  <a:srgbClr val="1F2A3C"/>
                </a:solidFill>
                <a:latin typeface="Arial" pitchFamily="34" charset="0"/>
                <a:ea typeface="Arial" pitchFamily="34" charset="-122"/>
                <a:cs typeface="Arial" pitchFamily="34" charset="-120"/>
              </a:rPr>
              <a:t>Releases grow sharply year by year</a:t>
            </a:r>
            <a:endParaRPr lang="en-US" sz="1200" dirty="0"/>
          </a:p>
        </p:txBody>
      </p:sp>
      <p:sp>
        <p:nvSpPr>
          <p:cNvPr id="18" name="Shape 16"/>
          <p:cNvSpPr/>
          <p:nvPr/>
        </p:nvSpPr>
        <p:spPr>
          <a:xfrm>
            <a:off x="4206240" y="2971800"/>
            <a:ext cx="274320" cy="219456"/>
          </a:xfrm>
          <a:prstGeom prst="rightArrow">
            <a:avLst/>
          </a:prstGeom>
          <a:solidFill>
            <a:srgbClr val="3D74CC"/>
          </a:solidFill>
          <a:ln w="12700">
            <a:solidFill>
              <a:srgbClr val="3D74CC"/>
            </a:solidFill>
            <a:prstDash val="solid"/>
          </a:ln>
        </p:spPr>
        <p:txBody>
          <a:bodyPr/>
          <a:lstStyle/>
          <a:p>
            <a:endParaRPr lang="en-US"/>
          </a:p>
        </p:txBody>
      </p:sp>
      <p:sp>
        <p:nvSpPr>
          <p:cNvPr id="19" name="Text 17"/>
          <p:cNvSpPr txBox="1"/>
          <p:nvPr/>
        </p:nvSpPr>
        <p:spPr>
          <a:xfrm>
            <a:off x="4572000" y="2816352"/>
            <a:ext cx="4114800" cy="530352"/>
          </a:xfrm>
          <a:prstGeom prst="rect">
            <a:avLst/>
          </a:prstGeom>
          <a:noFill/>
          <a:ln/>
        </p:spPr>
        <p:txBody>
          <a:bodyPr wrap="square" lIns="0" tIns="0" rIns="0" bIns="0" rtlCol="0" anchor="ctr"/>
          <a:lstStyle/>
          <a:p>
            <a:pPr marL="0" indent="0">
              <a:buNone/>
            </a:pPr>
            <a:r>
              <a:rPr lang="en-US" sz="1200" dirty="0">
                <a:solidFill>
                  <a:srgbClr val="1F2A3C"/>
                </a:solidFill>
                <a:latin typeface="Arial" pitchFamily="34" charset="0"/>
                <a:ea typeface="Arial" pitchFamily="34" charset="-122"/>
                <a:cs typeface="Arial" pitchFamily="34" charset="-120"/>
              </a:rPr>
              <a:t>Time-based split: train on older games, test on newer ones</a:t>
            </a:r>
            <a:endParaRPr lang="en-US" sz="1200" dirty="0"/>
          </a:p>
        </p:txBody>
      </p:sp>
      <p:sp>
        <p:nvSpPr>
          <p:cNvPr id="20" name="Shape 18"/>
          <p:cNvSpPr/>
          <p:nvPr/>
        </p:nvSpPr>
        <p:spPr>
          <a:xfrm>
            <a:off x="457200" y="3438144"/>
            <a:ext cx="3657600" cy="530352"/>
          </a:xfrm>
          <a:prstGeom prst="roundRect">
            <a:avLst>
              <a:gd name="adj" fmla="val 13793"/>
            </a:avLst>
          </a:prstGeom>
          <a:solidFill>
            <a:srgbClr val="EEF2F7"/>
          </a:solidFill>
          <a:ln w="12700">
            <a:solidFill>
              <a:srgbClr val="EEF2F7"/>
            </a:solidFill>
            <a:prstDash val="solid"/>
          </a:ln>
        </p:spPr>
        <p:txBody>
          <a:bodyPr/>
          <a:lstStyle/>
          <a:p>
            <a:endParaRPr lang="en-US"/>
          </a:p>
        </p:txBody>
      </p:sp>
      <p:sp>
        <p:nvSpPr>
          <p:cNvPr id="21" name="Text 19"/>
          <p:cNvSpPr txBox="1"/>
          <p:nvPr/>
        </p:nvSpPr>
        <p:spPr>
          <a:xfrm>
            <a:off x="594360" y="3438144"/>
            <a:ext cx="3429000" cy="530352"/>
          </a:xfrm>
          <a:prstGeom prst="rect">
            <a:avLst/>
          </a:prstGeom>
          <a:noFill/>
          <a:ln/>
        </p:spPr>
        <p:txBody>
          <a:bodyPr wrap="square" lIns="0" tIns="0" rIns="0" bIns="0" rtlCol="0" anchor="ctr"/>
          <a:lstStyle/>
          <a:p>
            <a:pPr marL="0" indent="0">
              <a:buNone/>
            </a:pPr>
            <a:r>
              <a:rPr lang="en-US" sz="1200" b="1" dirty="0">
                <a:solidFill>
                  <a:srgbClr val="1F2A3C"/>
                </a:solidFill>
                <a:latin typeface="Arial" pitchFamily="34" charset="0"/>
                <a:ea typeface="Arial" pitchFamily="34" charset="-122"/>
                <a:cs typeface="Arial" pitchFamily="34" charset="-120"/>
              </a:rPr>
              <a:t>Established publishers may do better</a:t>
            </a:r>
            <a:endParaRPr lang="en-US" sz="1200" dirty="0"/>
          </a:p>
        </p:txBody>
      </p:sp>
      <p:sp>
        <p:nvSpPr>
          <p:cNvPr id="22" name="Shape 20"/>
          <p:cNvSpPr/>
          <p:nvPr/>
        </p:nvSpPr>
        <p:spPr>
          <a:xfrm>
            <a:off x="4206240" y="3593592"/>
            <a:ext cx="274320" cy="219456"/>
          </a:xfrm>
          <a:prstGeom prst="rightArrow">
            <a:avLst/>
          </a:prstGeom>
          <a:solidFill>
            <a:srgbClr val="3D74CC"/>
          </a:solidFill>
          <a:ln w="12700">
            <a:solidFill>
              <a:srgbClr val="3D74CC"/>
            </a:solidFill>
            <a:prstDash val="solid"/>
          </a:ln>
        </p:spPr>
        <p:txBody>
          <a:bodyPr/>
          <a:lstStyle/>
          <a:p>
            <a:endParaRPr lang="en-US"/>
          </a:p>
        </p:txBody>
      </p:sp>
      <p:sp>
        <p:nvSpPr>
          <p:cNvPr id="23" name="Text 21"/>
          <p:cNvSpPr txBox="1"/>
          <p:nvPr/>
        </p:nvSpPr>
        <p:spPr>
          <a:xfrm>
            <a:off x="4572000" y="3438144"/>
            <a:ext cx="4114800" cy="530352"/>
          </a:xfrm>
          <a:prstGeom prst="rect">
            <a:avLst/>
          </a:prstGeom>
          <a:noFill/>
          <a:ln/>
        </p:spPr>
        <p:txBody>
          <a:bodyPr wrap="square" lIns="0" tIns="0" rIns="0" bIns="0" rtlCol="0" anchor="ctr"/>
          <a:lstStyle/>
          <a:p>
            <a:pPr marL="0" indent="0">
              <a:buNone/>
            </a:pPr>
            <a:r>
              <a:rPr lang="en-US" sz="1200" dirty="0">
                <a:solidFill>
                  <a:srgbClr val="1F2A3C"/>
                </a:solidFill>
                <a:latin typeface="Arial" pitchFamily="34" charset="0"/>
                <a:ea typeface="Arial" pitchFamily="34" charset="-122"/>
                <a:cs typeface="Arial" pitchFamily="34" charset="-120"/>
              </a:rPr>
              <a:t>Count only releases before each game, so no future data leaks in</a:t>
            </a:r>
            <a:endParaRPr lang="en-US" sz="1200" dirty="0"/>
          </a:p>
        </p:txBody>
      </p:sp>
      <p:sp>
        <p:nvSpPr>
          <p:cNvPr id="24" name="Text 22"/>
          <p:cNvSpPr txBox="1"/>
          <p:nvPr/>
        </p:nvSpPr>
        <p:spPr>
          <a:xfrm>
            <a:off x="457200" y="4114800"/>
            <a:ext cx="8229600" cy="502920"/>
          </a:xfrm>
          <a:prstGeom prst="rect">
            <a:avLst/>
          </a:prstGeom>
          <a:noFill/>
          <a:ln/>
        </p:spPr>
        <p:txBody>
          <a:bodyPr wrap="square" lIns="0" tIns="0" rIns="0" bIns="0" rtlCol="0" anchor="t"/>
          <a:lstStyle/>
          <a:p>
            <a:pPr marL="0" indent="0">
              <a:buNone/>
            </a:pPr>
            <a:r>
              <a:rPr lang="en-US" sz="1100" b="1" dirty="0">
                <a:solidFill>
                  <a:srgbClr val="3D74CC"/>
                </a:solidFill>
                <a:latin typeface="Arial" pitchFamily="34" charset="0"/>
                <a:ea typeface="Arial" pitchFamily="34" charset="-122"/>
                <a:cs typeface="Arial" pitchFamily="34" charset="-120"/>
              </a:rPr>
              <a:t>Which features matter most? </a:t>
            </a:r>
            <a:r>
              <a:rPr lang="en-US" sz="1100" dirty="0">
                <a:solidFill>
                  <a:srgbClr val="1F2A3C"/>
                </a:solidFill>
                <a:latin typeface="Arial" pitchFamily="34" charset="0"/>
                <a:ea typeface="Arial" pitchFamily="34" charset="-122"/>
                <a:cs typeface="Arial" pitchFamily="34" charset="-120"/>
              </a:rPr>
              <a:t>Permutation importance and SHAP on the best model, checked against the EDA charts. GPU option: RAPIDS cuDF / cuML for the large one-hot feature matrix.</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968</Words>
  <Application>Microsoft Macintosh PowerPoint</Application>
  <PresentationFormat>On-screen Show (16:9)</PresentationFormat>
  <Paragraphs>70</Paragraphs>
  <Slides>4</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Arial</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Dataset Introduction &amp; Preliminary ML Direction</dc:title>
  <dc:subject>PptxGenJS Presentation</dc:subject>
  <dc:creator>Chinmayi</dc:creator>
  <cp:lastModifiedBy>Chinmayi Bolisetty</cp:lastModifiedBy>
  <cp:revision>2</cp:revision>
  <dcterms:created xsi:type="dcterms:W3CDTF">2026-10-03T22:34:10Z</dcterms:created>
  <dcterms:modified xsi:type="dcterms:W3CDTF">2026-10-03T23:31:27Z</dcterms:modified>
</cp:coreProperties>
</file>