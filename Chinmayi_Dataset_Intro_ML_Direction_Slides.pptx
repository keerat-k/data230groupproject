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9" d="100"/>
          <a:sy n="159" d="100"/>
        </p:scale>
        <p:origin x="184" y="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28398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Steam Games Dataset from Kaggle, collected from the Steam Store API and SteamSpy. The raw file lists 125,855 games with 39 features each, far above the 50,000-row and 20-feature minimums. The features fall into five groups: business choices like price, platform and language reach, store-page content like genres and screenshots, who made the game, and post-launch outcomes like owners and reviews. That last group is in orange because it is what we predict, not what we predict from. After Keerat's cleaning we keep 95,787 games.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chose this dataset because it answers our question directly. Estimated owners gives us a measure of success, and price, genre, platforms, languages and publisher are all decisions a developer makes before launch. It covers the whole market from 1997 to 2025, so it works for both EDA and machine learning. It is also complex: list-style text fields have to be expanded into many binary columns, the target is stored as ranges rather than numbers, the distribution is extremely skewed, and the raw file itself has problems that Keerat will show.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ML task is supervised binary classification: does a game reach at least 50,000 owners? Rachel already showed that only 14.6 percent do, so I won't repeat the chart. The classes are imbalanced. We chose classification because owners only exist as ranges. The key design decision is which features the model may see. We use only the 72 features known before launch. Reviews, playtime and peak players are excluded, because they only exist after a game has already succeeded or failed; using them would leak the answer.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choice comes from Rachel's EDA. One: only 14.6 percent are hits, so a model that always says no is 85 percent accurate. We use class weights or SMOTE and judge by F1, recall and PR-AUC. Two: price is not a straight line. Hit rates are lowest for cheap games, peak around 20 to 40 dollars and collapse above 100, and the heatmap shows the pattern changes by genre. Tree models capture that, with logistic regression as a baseline. Three, and the most important: the hit rate falls from 71 percent for pre-2010 games to 4 percent for 2025 games, partly because newer games have had less time to gain owners and face far more competition. So we split by release date, and compare against the test period's own 8 percent baseline, not 14.6. Four: experienced publishers do about twice as well, so we keep the prior-release count, using earlier games only. These are associations, not causes; the model will tell us which features matter once other factors are accounted for.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marL="0" indent="0">
              <a:buNone/>
            </a:pPr>
            <a:r>
              <a:rPr lang="en-US" sz="1200" b="1" dirty="0">
                <a:solidFill>
                  <a:srgbClr val="3D74CC"/>
                </a:solidFill>
                <a:latin typeface="Arial" pitchFamily="34" charset="0"/>
                <a:ea typeface="Arial" pitchFamily="34" charset="-122"/>
                <a:cs typeface="Arial" pitchFamily="34" charset="-120"/>
              </a:rPr>
              <a:t>DATASET INTRODUCTION</a:t>
            </a:r>
            <a:endParaRPr lang="en-US" sz="1200" dirty="0"/>
          </a:p>
        </p:txBody>
      </p:sp>
      <p:sp>
        <p:nvSpPr>
          <p:cNvPr id="3" name="Text 1"/>
          <p:cNvSpPr txBox="1"/>
          <p:nvPr/>
        </p:nvSpPr>
        <p:spPr>
          <a:xfrm>
            <a:off x="457200" y="548640"/>
            <a:ext cx="8229600" cy="594360"/>
          </a:xfrm>
          <a:prstGeom prst="rect">
            <a:avLst/>
          </a:prstGeom>
          <a:noFill/>
          <a:ln/>
        </p:spPr>
        <p:txBody>
          <a:bodyPr wrap="square" lIns="0" tIns="0" rIns="0" bIns="0" rtlCol="0" anchor="ctr"/>
          <a:lstStyle/>
          <a:p>
            <a:pPr marL="0" indent="0">
              <a:buNone/>
            </a:pPr>
            <a:r>
              <a:rPr lang="en-US" sz="2600" b="1" dirty="0">
                <a:solidFill>
                  <a:srgbClr val="1F2A3C"/>
                </a:solidFill>
                <a:latin typeface="Arial" pitchFamily="34" charset="0"/>
                <a:ea typeface="Arial" pitchFamily="34" charset="-122"/>
                <a:cs typeface="Arial" pitchFamily="34" charset="-120"/>
              </a:rPr>
              <a:t>125,855 Steam games, 39 features, one question</a:t>
            </a:r>
            <a:endParaRPr lang="en-US" sz="2600" dirty="0"/>
          </a:p>
        </p:txBody>
      </p:sp>
      <p:sp>
        <p:nvSpPr>
          <p:cNvPr id="4" name="Text 2"/>
          <p:cNvSpPr txBox="1"/>
          <p:nvPr/>
        </p:nvSpPr>
        <p:spPr>
          <a:xfrm>
            <a:off x="457200" y="4754880"/>
            <a:ext cx="5486400" cy="228600"/>
          </a:xfrm>
          <a:prstGeom prst="rect">
            <a:avLst/>
          </a:prstGeom>
          <a:noFill/>
          <a:ln/>
        </p:spPr>
        <p:txBody>
          <a:bodyPr wrap="square" lIns="0" tIns="0" rIns="0" bIns="0" rtlCol="0" anchor="ctr"/>
          <a:lstStyle/>
          <a:p>
            <a:pPr marL="0" indent="0">
              <a:buNone/>
            </a:pPr>
            <a:r>
              <a:rPr lang="en-US" sz="900" dirty="0">
                <a:solidFill>
                  <a:srgbClr val="6B6B6B"/>
                </a:solidFill>
                <a:latin typeface="Arial" pitchFamily="34" charset="0"/>
                <a:ea typeface="Arial" pitchFamily="34" charset="-122"/>
                <a:cs typeface="Arial" pitchFamily="34" charset="-120"/>
              </a:rPr>
              <a:t>Dataset introduction &amp; ML direction · Chinmayi</a:t>
            </a:r>
            <a:endParaRPr lang="en-US" sz="900" dirty="0"/>
          </a:p>
        </p:txBody>
      </p:sp>
      <p:sp>
        <p:nvSpPr>
          <p:cNvPr id="5" name="Text 3"/>
          <p:cNvSpPr txBox="1"/>
          <p:nvPr/>
        </p:nvSpPr>
        <p:spPr>
          <a:xfrm>
            <a:off x="8229600" y="4754880"/>
            <a:ext cx="457200" cy="228600"/>
          </a:xfrm>
          <a:prstGeom prst="rect">
            <a:avLst/>
          </a:prstGeom>
          <a:noFill/>
          <a:ln/>
        </p:spPr>
        <p:txBody>
          <a:bodyPr wrap="square" lIns="0" tIns="0" rIns="0" bIns="0" rtlCol="0" anchor="ctr"/>
          <a:lstStyle/>
          <a:p>
            <a:pPr marL="0" indent="0" algn="r">
              <a:buNone/>
            </a:pPr>
            <a:r>
              <a:rPr lang="en-US" sz="900" dirty="0">
                <a:solidFill>
                  <a:srgbClr val="6B6B6B"/>
                </a:solidFill>
                <a:latin typeface="Arial" pitchFamily="34" charset="0"/>
                <a:ea typeface="Arial" pitchFamily="34" charset="-122"/>
                <a:cs typeface="Arial" pitchFamily="34" charset="-120"/>
              </a:rPr>
              <a:t>1</a:t>
            </a:r>
            <a:endParaRPr lang="en-US" sz="900" dirty="0"/>
          </a:p>
        </p:txBody>
      </p:sp>
      <p:sp>
        <p:nvSpPr>
          <p:cNvPr id="6" name="Shape 4"/>
          <p:cNvSpPr/>
          <p:nvPr/>
        </p:nvSpPr>
        <p:spPr>
          <a:xfrm>
            <a:off x="457200" y="1325880"/>
            <a:ext cx="3291840" cy="896112"/>
          </a:xfrm>
          <a:prstGeom prst="roundRect">
            <a:avLst>
              <a:gd name="adj" fmla="val 8163"/>
            </a:avLst>
          </a:prstGeom>
          <a:solidFill>
            <a:srgbClr val="EEF2F7"/>
          </a:solidFill>
          <a:ln w="12700">
            <a:solidFill>
              <a:srgbClr val="EEF2F7"/>
            </a:solidFill>
            <a:prstDash val="solid"/>
          </a:ln>
        </p:spPr>
        <p:txBody>
          <a:bodyPr/>
          <a:lstStyle/>
          <a:p>
            <a:endParaRPr lang="en-US"/>
          </a:p>
        </p:txBody>
      </p:sp>
      <p:sp>
        <p:nvSpPr>
          <p:cNvPr id="7" name="Text 5"/>
          <p:cNvSpPr txBox="1"/>
          <p:nvPr/>
        </p:nvSpPr>
        <p:spPr>
          <a:xfrm>
            <a:off x="640080" y="1399032"/>
            <a:ext cx="3017520" cy="457200"/>
          </a:xfrm>
          <a:prstGeom prst="rect">
            <a:avLst/>
          </a:prstGeom>
          <a:noFill/>
          <a:ln/>
        </p:spPr>
        <p:txBody>
          <a:bodyPr wrap="square" lIns="0" tIns="0" rIns="0" bIns="0" rtlCol="0" anchor="ctr"/>
          <a:lstStyle/>
          <a:p>
            <a:pPr marL="0" indent="0">
              <a:buNone/>
            </a:pPr>
            <a:r>
              <a:rPr lang="en-US" sz="2600" b="1" dirty="0">
                <a:solidFill>
                  <a:srgbClr val="3D74CC"/>
                </a:solidFill>
                <a:latin typeface="Arial" pitchFamily="34" charset="0"/>
                <a:ea typeface="Arial" pitchFamily="34" charset="-122"/>
                <a:cs typeface="Arial" pitchFamily="34" charset="-120"/>
              </a:rPr>
              <a:t>125,855</a:t>
            </a:r>
            <a:endParaRPr lang="en-US" sz="2600" dirty="0"/>
          </a:p>
        </p:txBody>
      </p:sp>
      <p:sp>
        <p:nvSpPr>
          <p:cNvPr id="8" name="Text 6"/>
          <p:cNvSpPr txBox="1"/>
          <p:nvPr/>
        </p:nvSpPr>
        <p:spPr>
          <a:xfrm>
            <a:off x="640080" y="1837944"/>
            <a:ext cx="3017520" cy="320040"/>
          </a:xfrm>
          <a:prstGeom prst="rect">
            <a:avLst/>
          </a:prstGeom>
          <a:noFill/>
          <a:ln/>
        </p:spPr>
        <p:txBody>
          <a:bodyPr wrap="square" lIns="0" tIns="0" rIns="0" bIns="0" rtlCol="0" anchor="ctr"/>
          <a:lstStyle/>
          <a:p>
            <a:pPr marL="0" indent="0">
              <a:buNone/>
            </a:pPr>
            <a:r>
              <a:rPr lang="en-US" sz="1200" dirty="0">
                <a:solidFill>
                  <a:srgbClr val="1F2A3C"/>
                </a:solidFill>
                <a:latin typeface="Arial" pitchFamily="34" charset="0"/>
                <a:ea typeface="Arial" pitchFamily="34" charset="-122"/>
                <a:cs typeface="Arial" pitchFamily="34" charset="-120"/>
              </a:rPr>
              <a:t>games listed on Steam (raw catalogue)</a:t>
            </a:r>
            <a:endParaRPr lang="en-US" sz="1200" dirty="0"/>
          </a:p>
        </p:txBody>
      </p:sp>
      <p:sp>
        <p:nvSpPr>
          <p:cNvPr id="9" name="Shape 7"/>
          <p:cNvSpPr/>
          <p:nvPr/>
        </p:nvSpPr>
        <p:spPr>
          <a:xfrm>
            <a:off x="457200" y="2350008"/>
            <a:ext cx="3291840" cy="896112"/>
          </a:xfrm>
          <a:prstGeom prst="roundRect">
            <a:avLst>
              <a:gd name="adj" fmla="val 8163"/>
            </a:avLst>
          </a:prstGeom>
          <a:solidFill>
            <a:srgbClr val="EEF2F7"/>
          </a:solidFill>
          <a:ln w="12700">
            <a:solidFill>
              <a:srgbClr val="EEF2F7"/>
            </a:solidFill>
            <a:prstDash val="solid"/>
          </a:ln>
        </p:spPr>
        <p:txBody>
          <a:bodyPr/>
          <a:lstStyle/>
          <a:p>
            <a:endParaRPr lang="en-US"/>
          </a:p>
        </p:txBody>
      </p:sp>
      <p:sp>
        <p:nvSpPr>
          <p:cNvPr id="10" name="Text 8"/>
          <p:cNvSpPr txBox="1"/>
          <p:nvPr/>
        </p:nvSpPr>
        <p:spPr>
          <a:xfrm>
            <a:off x="640080" y="2423160"/>
            <a:ext cx="3017520" cy="457200"/>
          </a:xfrm>
          <a:prstGeom prst="rect">
            <a:avLst/>
          </a:prstGeom>
          <a:noFill/>
          <a:ln/>
        </p:spPr>
        <p:txBody>
          <a:bodyPr wrap="square" lIns="0" tIns="0" rIns="0" bIns="0" rtlCol="0" anchor="ctr"/>
          <a:lstStyle/>
          <a:p>
            <a:pPr marL="0" indent="0">
              <a:buNone/>
            </a:pPr>
            <a:r>
              <a:rPr lang="en-US" sz="2600" b="1" dirty="0">
                <a:solidFill>
                  <a:srgbClr val="3D74CC"/>
                </a:solidFill>
                <a:latin typeface="Arial" pitchFamily="34" charset="0"/>
                <a:ea typeface="Arial" pitchFamily="34" charset="-122"/>
                <a:cs typeface="Arial" pitchFamily="34" charset="-120"/>
              </a:rPr>
              <a:t>39</a:t>
            </a:r>
            <a:endParaRPr lang="en-US" sz="2600" dirty="0"/>
          </a:p>
        </p:txBody>
      </p:sp>
      <p:sp>
        <p:nvSpPr>
          <p:cNvPr id="11" name="Text 9"/>
          <p:cNvSpPr txBox="1"/>
          <p:nvPr/>
        </p:nvSpPr>
        <p:spPr>
          <a:xfrm>
            <a:off x="640080" y="2862072"/>
            <a:ext cx="3017520" cy="320040"/>
          </a:xfrm>
          <a:prstGeom prst="rect">
            <a:avLst/>
          </a:prstGeom>
          <a:noFill/>
          <a:ln/>
        </p:spPr>
        <p:txBody>
          <a:bodyPr wrap="square" lIns="0" tIns="0" rIns="0" bIns="0" rtlCol="0" anchor="ctr"/>
          <a:lstStyle/>
          <a:p>
            <a:pPr marL="0" indent="0">
              <a:buNone/>
            </a:pPr>
            <a:r>
              <a:rPr lang="en-US" sz="1200" dirty="0">
                <a:solidFill>
                  <a:srgbClr val="1F2A3C"/>
                </a:solidFill>
                <a:latin typeface="Arial" pitchFamily="34" charset="0"/>
                <a:ea typeface="Arial" pitchFamily="34" charset="-122"/>
                <a:cs typeface="Arial" pitchFamily="34" charset="-120"/>
              </a:rPr>
              <a:t>features per game, from 5 kinds of information</a:t>
            </a:r>
            <a:endParaRPr lang="en-US" sz="1200" dirty="0"/>
          </a:p>
        </p:txBody>
      </p:sp>
      <p:sp>
        <p:nvSpPr>
          <p:cNvPr id="12" name="Shape 10"/>
          <p:cNvSpPr/>
          <p:nvPr/>
        </p:nvSpPr>
        <p:spPr>
          <a:xfrm>
            <a:off x="457200" y="3374136"/>
            <a:ext cx="3291840" cy="896112"/>
          </a:xfrm>
          <a:prstGeom prst="roundRect">
            <a:avLst>
              <a:gd name="adj" fmla="val 8163"/>
            </a:avLst>
          </a:prstGeom>
          <a:solidFill>
            <a:srgbClr val="EEF2F7"/>
          </a:solidFill>
          <a:ln w="12700">
            <a:solidFill>
              <a:srgbClr val="EEF2F7"/>
            </a:solidFill>
            <a:prstDash val="solid"/>
          </a:ln>
        </p:spPr>
        <p:txBody>
          <a:bodyPr/>
          <a:lstStyle/>
          <a:p>
            <a:endParaRPr lang="en-US"/>
          </a:p>
        </p:txBody>
      </p:sp>
      <p:sp>
        <p:nvSpPr>
          <p:cNvPr id="13" name="Text 11"/>
          <p:cNvSpPr txBox="1"/>
          <p:nvPr/>
        </p:nvSpPr>
        <p:spPr>
          <a:xfrm>
            <a:off x="640080" y="3447288"/>
            <a:ext cx="3017520" cy="457200"/>
          </a:xfrm>
          <a:prstGeom prst="rect">
            <a:avLst/>
          </a:prstGeom>
          <a:noFill/>
          <a:ln/>
        </p:spPr>
        <p:txBody>
          <a:bodyPr wrap="square" lIns="0" tIns="0" rIns="0" bIns="0" rtlCol="0" anchor="ctr"/>
          <a:lstStyle/>
          <a:p>
            <a:pPr marL="0" indent="0">
              <a:buNone/>
            </a:pPr>
            <a:r>
              <a:rPr lang="en-US" sz="2600" b="1" dirty="0">
                <a:solidFill>
                  <a:srgbClr val="3D74CC"/>
                </a:solidFill>
                <a:latin typeface="Arial" pitchFamily="34" charset="0"/>
                <a:ea typeface="Arial" pitchFamily="34" charset="-122"/>
                <a:cs typeface="Arial" pitchFamily="34" charset="-120"/>
              </a:rPr>
              <a:t>95,787</a:t>
            </a:r>
            <a:endParaRPr lang="en-US" sz="2600" dirty="0"/>
          </a:p>
        </p:txBody>
      </p:sp>
      <p:sp>
        <p:nvSpPr>
          <p:cNvPr id="14" name="Text 12"/>
          <p:cNvSpPr txBox="1"/>
          <p:nvPr/>
        </p:nvSpPr>
        <p:spPr>
          <a:xfrm>
            <a:off x="640080" y="3886200"/>
            <a:ext cx="3017520" cy="320040"/>
          </a:xfrm>
          <a:prstGeom prst="rect">
            <a:avLst/>
          </a:prstGeom>
          <a:noFill/>
          <a:ln/>
        </p:spPr>
        <p:txBody>
          <a:bodyPr wrap="square" lIns="0" tIns="0" rIns="0" bIns="0" rtlCol="0" anchor="ctr"/>
          <a:lstStyle/>
          <a:p>
            <a:pPr marL="0" indent="0">
              <a:buNone/>
            </a:pPr>
            <a:r>
              <a:rPr lang="en-US" sz="1200" dirty="0">
                <a:solidFill>
                  <a:srgbClr val="1F2A3C"/>
                </a:solidFill>
                <a:latin typeface="Arial" pitchFamily="34" charset="0"/>
                <a:ea typeface="Arial" pitchFamily="34" charset="-122"/>
                <a:cs typeface="Arial" pitchFamily="34" charset="-120"/>
              </a:rPr>
              <a:t>games kept after cleaning</a:t>
            </a:r>
            <a:endParaRPr lang="en-US" sz="1200" dirty="0"/>
          </a:p>
        </p:txBody>
      </p:sp>
      <p:sp>
        <p:nvSpPr>
          <p:cNvPr id="15" name="Text 13"/>
          <p:cNvSpPr txBox="1"/>
          <p:nvPr/>
        </p:nvSpPr>
        <p:spPr>
          <a:xfrm>
            <a:off x="4023360" y="1325880"/>
            <a:ext cx="4663440" cy="457200"/>
          </a:xfrm>
          <a:prstGeom prst="rect">
            <a:avLst/>
          </a:prstGeom>
          <a:noFill/>
          <a:ln/>
        </p:spPr>
        <p:txBody>
          <a:bodyPr wrap="square" lIns="0" tIns="0" rIns="0" bIns="0" rtlCol="0" anchor="ctr"/>
          <a:lstStyle/>
          <a:p>
            <a:pPr marL="0" indent="0">
              <a:buNone/>
            </a:pPr>
            <a:r>
              <a:rPr lang="en-US" sz="1200" i="1" dirty="0">
                <a:solidFill>
                  <a:srgbClr val="6B6B6B"/>
                </a:solidFill>
                <a:latin typeface="Arial" pitchFamily="34" charset="0"/>
                <a:ea typeface="Arial" pitchFamily="34" charset="-122"/>
                <a:cs typeface="Arial" pitchFamily="34" charset="-120"/>
              </a:rPr>
              <a:t>Source: Kaggle "Steam Games Dataset" (FronkonGames), built from the Steam Store API and SteamSpy. Public and open.</a:t>
            </a:r>
            <a:endParaRPr lang="en-US" sz="1200" dirty="0"/>
          </a:p>
        </p:txBody>
      </p:sp>
      <p:sp>
        <p:nvSpPr>
          <p:cNvPr id="16" name="Shape 14"/>
          <p:cNvSpPr/>
          <p:nvPr/>
        </p:nvSpPr>
        <p:spPr>
          <a:xfrm>
            <a:off x="4023360" y="1984248"/>
            <a:ext cx="201168" cy="201168"/>
          </a:xfrm>
          <a:prstGeom prst="ellipse">
            <a:avLst/>
          </a:prstGeom>
          <a:solidFill>
            <a:srgbClr val="3D74CC"/>
          </a:solidFill>
          <a:ln w="12700">
            <a:solidFill>
              <a:srgbClr val="3D74CC"/>
            </a:solidFill>
            <a:prstDash val="solid"/>
          </a:ln>
        </p:spPr>
        <p:txBody>
          <a:bodyPr/>
          <a:lstStyle/>
          <a:p>
            <a:endParaRPr lang="en-US"/>
          </a:p>
        </p:txBody>
      </p:sp>
      <p:sp>
        <p:nvSpPr>
          <p:cNvPr id="17" name="Text 15"/>
          <p:cNvSpPr txBox="1"/>
          <p:nvPr/>
        </p:nvSpPr>
        <p:spPr>
          <a:xfrm>
            <a:off x="4389120" y="1874520"/>
            <a:ext cx="4297680" cy="475488"/>
          </a:xfrm>
          <a:prstGeom prst="rect">
            <a:avLst/>
          </a:prstGeom>
          <a:noFill/>
          <a:ln/>
        </p:spPr>
        <p:txBody>
          <a:bodyPr wrap="square" lIns="0" tIns="0" rIns="0" bIns="0" rtlCol="0" anchor="t"/>
          <a:lstStyle/>
          <a:p>
            <a:pPr marL="0" indent="0">
              <a:buNone/>
            </a:pPr>
            <a:r>
              <a:rPr lang="en-US" sz="1200" b="1" dirty="0">
                <a:solidFill>
                  <a:srgbClr val="1F2A3C"/>
                </a:solidFill>
                <a:latin typeface="Arial" pitchFamily="34" charset="0"/>
                <a:ea typeface="Arial" pitchFamily="34" charset="-122"/>
                <a:cs typeface="Arial" pitchFamily="34" charset="-120"/>
              </a:rPr>
              <a:t>Business choices</a:t>
            </a:r>
            <a:endParaRPr lang="en-US" sz="1200" dirty="0"/>
          </a:p>
          <a:p>
            <a:pPr marL="0" indent="0">
              <a:buNone/>
            </a:pPr>
            <a:r>
              <a:rPr lang="en-US" sz="1200" dirty="0">
                <a:solidFill>
                  <a:srgbClr val="6B6B6B"/>
                </a:solidFill>
                <a:latin typeface="Arial" pitchFamily="34" charset="0"/>
                <a:ea typeface="Arial" pitchFamily="34" charset="-122"/>
                <a:cs typeface="Arial" pitchFamily="34" charset="-120"/>
              </a:rPr>
              <a:t>Price, required age, DLC count</a:t>
            </a:r>
            <a:endParaRPr lang="en-US" sz="1200" dirty="0"/>
          </a:p>
        </p:txBody>
      </p:sp>
      <p:sp>
        <p:nvSpPr>
          <p:cNvPr id="18" name="Shape 16"/>
          <p:cNvSpPr/>
          <p:nvPr/>
        </p:nvSpPr>
        <p:spPr>
          <a:xfrm>
            <a:off x="4023360" y="2532888"/>
            <a:ext cx="201168" cy="201168"/>
          </a:xfrm>
          <a:prstGeom prst="ellipse">
            <a:avLst/>
          </a:prstGeom>
          <a:solidFill>
            <a:srgbClr val="3D74CC"/>
          </a:solidFill>
          <a:ln w="12700">
            <a:solidFill>
              <a:srgbClr val="3D74CC"/>
            </a:solidFill>
            <a:prstDash val="solid"/>
          </a:ln>
        </p:spPr>
        <p:txBody>
          <a:bodyPr/>
          <a:lstStyle/>
          <a:p>
            <a:endParaRPr lang="en-US"/>
          </a:p>
        </p:txBody>
      </p:sp>
      <p:sp>
        <p:nvSpPr>
          <p:cNvPr id="19" name="Text 17"/>
          <p:cNvSpPr txBox="1"/>
          <p:nvPr/>
        </p:nvSpPr>
        <p:spPr>
          <a:xfrm>
            <a:off x="4389120" y="2423160"/>
            <a:ext cx="4297680" cy="475488"/>
          </a:xfrm>
          <a:prstGeom prst="rect">
            <a:avLst/>
          </a:prstGeom>
          <a:noFill/>
          <a:ln/>
        </p:spPr>
        <p:txBody>
          <a:bodyPr wrap="square" lIns="0" tIns="0" rIns="0" bIns="0" rtlCol="0" anchor="t"/>
          <a:lstStyle/>
          <a:p>
            <a:pPr marL="0" indent="0">
              <a:buNone/>
            </a:pPr>
            <a:r>
              <a:rPr lang="en-US" sz="1200" b="1" dirty="0">
                <a:solidFill>
                  <a:srgbClr val="1F2A3C"/>
                </a:solidFill>
                <a:latin typeface="Arial" pitchFamily="34" charset="0"/>
                <a:ea typeface="Arial" pitchFamily="34" charset="-122"/>
                <a:cs typeface="Arial" pitchFamily="34" charset="-120"/>
              </a:rPr>
              <a:t>Platform &amp; reach</a:t>
            </a:r>
            <a:endParaRPr lang="en-US" sz="1200" dirty="0"/>
          </a:p>
          <a:p>
            <a:pPr marL="0" indent="0">
              <a:buNone/>
            </a:pPr>
            <a:r>
              <a:rPr lang="en-US" sz="1200" dirty="0">
                <a:solidFill>
                  <a:srgbClr val="6B6B6B"/>
                </a:solidFill>
                <a:latin typeface="Arial" pitchFamily="34" charset="0"/>
                <a:ea typeface="Arial" pitchFamily="34" charset="-122"/>
                <a:cs typeface="Arial" pitchFamily="34" charset="-120"/>
              </a:rPr>
              <a:t>Windows / Mac / Linux, supported languages</a:t>
            </a:r>
            <a:endParaRPr lang="en-US" sz="1200" dirty="0"/>
          </a:p>
        </p:txBody>
      </p:sp>
      <p:sp>
        <p:nvSpPr>
          <p:cNvPr id="20" name="Shape 18"/>
          <p:cNvSpPr/>
          <p:nvPr/>
        </p:nvSpPr>
        <p:spPr>
          <a:xfrm>
            <a:off x="4023360" y="3081528"/>
            <a:ext cx="201168" cy="201168"/>
          </a:xfrm>
          <a:prstGeom prst="ellipse">
            <a:avLst/>
          </a:prstGeom>
          <a:solidFill>
            <a:srgbClr val="3D74CC"/>
          </a:solidFill>
          <a:ln w="12700">
            <a:solidFill>
              <a:srgbClr val="3D74CC"/>
            </a:solidFill>
            <a:prstDash val="solid"/>
          </a:ln>
        </p:spPr>
        <p:txBody>
          <a:bodyPr/>
          <a:lstStyle/>
          <a:p>
            <a:endParaRPr lang="en-US"/>
          </a:p>
        </p:txBody>
      </p:sp>
      <p:sp>
        <p:nvSpPr>
          <p:cNvPr id="21" name="Text 19"/>
          <p:cNvSpPr txBox="1"/>
          <p:nvPr/>
        </p:nvSpPr>
        <p:spPr>
          <a:xfrm>
            <a:off x="4389120" y="2971800"/>
            <a:ext cx="4297680" cy="475488"/>
          </a:xfrm>
          <a:prstGeom prst="rect">
            <a:avLst/>
          </a:prstGeom>
          <a:noFill/>
          <a:ln/>
        </p:spPr>
        <p:txBody>
          <a:bodyPr wrap="square" lIns="0" tIns="0" rIns="0" bIns="0" rtlCol="0" anchor="t"/>
          <a:lstStyle/>
          <a:p>
            <a:pPr marL="0" indent="0">
              <a:buNone/>
            </a:pPr>
            <a:r>
              <a:rPr lang="en-US" sz="1200" b="1" dirty="0">
                <a:solidFill>
                  <a:srgbClr val="1F2A3C"/>
                </a:solidFill>
                <a:latin typeface="Arial" pitchFamily="34" charset="0"/>
                <a:ea typeface="Arial" pitchFamily="34" charset="-122"/>
                <a:cs typeface="Arial" pitchFamily="34" charset="-120"/>
              </a:rPr>
              <a:t>Content &amp; store page</a:t>
            </a:r>
            <a:endParaRPr lang="en-US" sz="1200" dirty="0"/>
          </a:p>
          <a:p>
            <a:pPr marL="0" indent="0">
              <a:buNone/>
            </a:pPr>
            <a:r>
              <a:rPr lang="en-US" sz="1200" dirty="0">
                <a:solidFill>
                  <a:srgbClr val="6B6B6B"/>
                </a:solidFill>
                <a:latin typeface="Arial" pitchFamily="34" charset="0"/>
                <a:ea typeface="Arial" pitchFamily="34" charset="-122"/>
                <a:cs typeface="Arial" pitchFamily="34" charset="-120"/>
              </a:rPr>
              <a:t>Genres, categories, tags, screenshots, trailers</a:t>
            </a:r>
            <a:endParaRPr lang="en-US" sz="1200" dirty="0"/>
          </a:p>
        </p:txBody>
      </p:sp>
      <p:sp>
        <p:nvSpPr>
          <p:cNvPr id="22" name="Shape 20"/>
          <p:cNvSpPr/>
          <p:nvPr/>
        </p:nvSpPr>
        <p:spPr>
          <a:xfrm>
            <a:off x="4023360" y="3630168"/>
            <a:ext cx="201168" cy="201168"/>
          </a:xfrm>
          <a:prstGeom prst="ellipse">
            <a:avLst/>
          </a:prstGeom>
          <a:solidFill>
            <a:srgbClr val="3D74CC"/>
          </a:solidFill>
          <a:ln w="12700">
            <a:solidFill>
              <a:srgbClr val="3D74CC"/>
            </a:solidFill>
            <a:prstDash val="solid"/>
          </a:ln>
        </p:spPr>
        <p:txBody>
          <a:bodyPr/>
          <a:lstStyle/>
          <a:p>
            <a:endParaRPr lang="en-US"/>
          </a:p>
        </p:txBody>
      </p:sp>
      <p:sp>
        <p:nvSpPr>
          <p:cNvPr id="23" name="Text 21"/>
          <p:cNvSpPr txBox="1"/>
          <p:nvPr/>
        </p:nvSpPr>
        <p:spPr>
          <a:xfrm>
            <a:off x="4389120" y="3520440"/>
            <a:ext cx="4297680" cy="475488"/>
          </a:xfrm>
          <a:prstGeom prst="rect">
            <a:avLst/>
          </a:prstGeom>
          <a:noFill/>
          <a:ln/>
        </p:spPr>
        <p:txBody>
          <a:bodyPr wrap="square" lIns="0" tIns="0" rIns="0" bIns="0" rtlCol="0" anchor="t"/>
          <a:lstStyle/>
          <a:p>
            <a:pPr marL="0" indent="0">
              <a:buNone/>
            </a:pPr>
            <a:r>
              <a:rPr lang="en-US" sz="1200" b="1" dirty="0">
                <a:solidFill>
                  <a:srgbClr val="1F2A3C"/>
                </a:solidFill>
                <a:latin typeface="Arial" pitchFamily="34" charset="0"/>
                <a:ea typeface="Arial" pitchFamily="34" charset="-122"/>
                <a:cs typeface="Arial" pitchFamily="34" charset="-120"/>
              </a:rPr>
              <a:t>Who made it</a:t>
            </a:r>
            <a:endParaRPr lang="en-US" sz="1200" dirty="0"/>
          </a:p>
          <a:p>
            <a:pPr marL="0" indent="0">
              <a:buNone/>
            </a:pPr>
            <a:r>
              <a:rPr lang="en-US" sz="1200" dirty="0">
                <a:solidFill>
                  <a:srgbClr val="6B6B6B"/>
                </a:solidFill>
                <a:latin typeface="Arial" pitchFamily="34" charset="0"/>
                <a:ea typeface="Arial" pitchFamily="34" charset="-122"/>
                <a:cs typeface="Arial" pitchFamily="34" charset="-120"/>
              </a:rPr>
              <a:t>Developers, publishers, release date</a:t>
            </a:r>
            <a:endParaRPr lang="en-US" sz="1200" dirty="0"/>
          </a:p>
        </p:txBody>
      </p:sp>
      <p:sp>
        <p:nvSpPr>
          <p:cNvPr id="24" name="Shape 22"/>
          <p:cNvSpPr/>
          <p:nvPr/>
        </p:nvSpPr>
        <p:spPr>
          <a:xfrm>
            <a:off x="4023360" y="4178808"/>
            <a:ext cx="201168" cy="201168"/>
          </a:xfrm>
          <a:prstGeom prst="ellipse">
            <a:avLst/>
          </a:prstGeom>
          <a:solidFill>
            <a:srgbClr val="D9693A"/>
          </a:solidFill>
          <a:ln w="12700">
            <a:solidFill>
              <a:srgbClr val="D9693A"/>
            </a:solidFill>
            <a:prstDash val="solid"/>
          </a:ln>
        </p:spPr>
        <p:txBody>
          <a:bodyPr/>
          <a:lstStyle/>
          <a:p>
            <a:endParaRPr lang="en-US"/>
          </a:p>
        </p:txBody>
      </p:sp>
      <p:sp>
        <p:nvSpPr>
          <p:cNvPr id="25" name="Text 23"/>
          <p:cNvSpPr txBox="1"/>
          <p:nvPr/>
        </p:nvSpPr>
        <p:spPr>
          <a:xfrm>
            <a:off x="4389120" y="4069080"/>
            <a:ext cx="4297680" cy="475488"/>
          </a:xfrm>
          <a:prstGeom prst="rect">
            <a:avLst/>
          </a:prstGeom>
          <a:noFill/>
          <a:ln/>
        </p:spPr>
        <p:txBody>
          <a:bodyPr wrap="square" lIns="0" tIns="0" rIns="0" bIns="0" rtlCol="0" anchor="t"/>
          <a:lstStyle/>
          <a:p>
            <a:pPr marL="0" indent="0">
              <a:buNone/>
            </a:pPr>
            <a:r>
              <a:rPr lang="en-US" sz="1200" b="1" dirty="0">
                <a:solidFill>
                  <a:srgbClr val="1F2A3C"/>
                </a:solidFill>
                <a:latin typeface="Arial" pitchFamily="34" charset="0"/>
                <a:ea typeface="Arial" pitchFamily="34" charset="-122"/>
                <a:cs typeface="Arial" pitchFamily="34" charset="-120"/>
              </a:rPr>
              <a:t>Outcomes (after launch)</a:t>
            </a:r>
            <a:endParaRPr lang="en-US" sz="1200" dirty="0"/>
          </a:p>
          <a:p>
            <a:pPr marL="0" indent="0">
              <a:buNone/>
            </a:pPr>
            <a:r>
              <a:rPr lang="en-US" sz="1200" dirty="0">
                <a:solidFill>
                  <a:srgbClr val="6B6B6B"/>
                </a:solidFill>
                <a:latin typeface="Arial" pitchFamily="34" charset="0"/>
                <a:ea typeface="Arial" pitchFamily="34" charset="-122"/>
                <a:cs typeface="Arial" pitchFamily="34" charset="-120"/>
              </a:rPr>
              <a:t>Estimated owners, reviews, playtime, peak players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marL="0" indent="0">
              <a:buNone/>
            </a:pPr>
            <a:r>
              <a:rPr lang="en-US" sz="1200" b="1" dirty="0">
                <a:solidFill>
                  <a:srgbClr val="3D74CC"/>
                </a:solidFill>
                <a:latin typeface="Arial" pitchFamily="34" charset="0"/>
                <a:ea typeface="Arial" pitchFamily="34" charset="-122"/>
                <a:cs typeface="Arial" pitchFamily="34" charset="-120"/>
              </a:rPr>
              <a:t>DATASET INTRODUCTION &amp; MOTIVATION</a:t>
            </a:r>
            <a:endParaRPr lang="en-US" sz="1200" dirty="0"/>
          </a:p>
        </p:txBody>
      </p:sp>
      <p:sp>
        <p:nvSpPr>
          <p:cNvPr id="3" name="Text 1"/>
          <p:cNvSpPr txBox="1"/>
          <p:nvPr/>
        </p:nvSpPr>
        <p:spPr>
          <a:xfrm>
            <a:off x="457200" y="548640"/>
            <a:ext cx="8229600" cy="594360"/>
          </a:xfrm>
          <a:prstGeom prst="rect">
            <a:avLst/>
          </a:prstGeom>
          <a:noFill/>
          <a:ln/>
        </p:spPr>
        <p:txBody>
          <a:bodyPr wrap="square" lIns="0" tIns="0" rIns="0" bIns="0" rtlCol="0" anchor="ctr"/>
          <a:lstStyle/>
          <a:p>
            <a:pPr marL="0" indent="0">
              <a:buNone/>
            </a:pPr>
            <a:r>
              <a:rPr lang="en-US" sz="2600" b="1" dirty="0">
                <a:solidFill>
                  <a:srgbClr val="1F2A3C"/>
                </a:solidFill>
                <a:latin typeface="Arial" pitchFamily="34" charset="0"/>
                <a:ea typeface="Arial" pitchFamily="34" charset="-122"/>
                <a:cs typeface="Arial" pitchFamily="34" charset="-120"/>
              </a:rPr>
              <a:t>Why this dataset fits our question</a:t>
            </a:r>
            <a:endParaRPr lang="en-US" sz="2600" dirty="0"/>
          </a:p>
        </p:txBody>
      </p:sp>
      <p:sp>
        <p:nvSpPr>
          <p:cNvPr id="4" name="Text 2"/>
          <p:cNvSpPr txBox="1"/>
          <p:nvPr/>
        </p:nvSpPr>
        <p:spPr>
          <a:xfrm>
            <a:off x="457200" y="4754880"/>
            <a:ext cx="5486400" cy="228600"/>
          </a:xfrm>
          <a:prstGeom prst="rect">
            <a:avLst/>
          </a:prstGeom>
          <a:noFill/>
          <a:ln/>
        </p:spPr>
        <p:txBody>
          <a:bodyPr wrap="square" lIns="0" tIns="0" rIns="0" bIns="0" rtlCol="0" anchor="ctr"/>
          <a:lstStyle/>
          <a:p>
            <a:pPr marL="0" indent="0">
              <a:buNone/>
            </a:pPr>
            <a:r>
              <a:rPr lang="en-US" sz="900" dirty="0">
                <a:solidFill>
                  <a:srgbClr val="6B6B6B"/>
                </a:solidFill>
                <a:latin typeface="Arial" pitchFamily="34" charset="0"/>
                <a:ea typeface="Arial" pitchFamily="34" charset="-122"/>
                <a:cs typeface="Arial" pitchFamily="34" charset="-120"/>
              </a:rPr>
              <a:t>Dataset introduction &amp; ML direction · Chinmayi</a:t>
            </a:r>
            <a:endParaRPr lang="en-US" sz="900" dirty="0"/>
          </a:p>
        </p:txBody>
      </p:sp>
      <p:sp>
        <p:nvSpPr>
          <p:cNvPr id="5" name="Text 3"/>
          <p:cNvSpPr txBox="1"/>
          <p:nvPr/>
        </p:nvSpPr>
        <p:spPr>
          <a:xfrm>
            <a:off x="8229600" y="4754880"/>
            <a:ext cx="457200" cy="228600"/>
          </a:xfrm>
          <a:prstGeom prst="rect">
            <a:avLst/>
          </a:prstGeom>
          <a:noFill/>
          <a:ln/>
        </p:spPr>
        <p:txBody>
          <a:bodyPr wrap="square" lIns="0" tIns="0" rIns="0" bIns="0" rtlCol="0" anchor="ctr"/>
          <a:lstStyle/>
          <a:p>
            <a:pPr marL="0" indent="0" algn="r">
              <a:buNone/>
            </a:pPr>
            <a:r>
              <a:rPr lang="en-US" sz="900" dirty="0">
                <a:solidFill>
                  <a:srgbClr val="6B6B6B"/>
                </a:solidFill>
                <a:latin typeface="Arial" pitchFamily="34" charset="0"/>
                <a:ea typeface="Arial" pitchFamily="34" charset="-122"/>
                <a:cs typeface="Arial" pitchFamily="34" charset="-120"/>
              </a:rPr>
              <a:t>2</a:t>
            </a:r>
            <a:endParaRPr lang="en-US" sz="900" dirty="0"/>
          </a:p>
        </p:txBody>
      </p:sp>
      <p:sp>
        <p:nvSpPr>
          <p:cNvPr id="6" name="Text 4"/>
          <p:cNvSpPr txBox="1"/>
          <p:nvPr/>
        </p:nvSpPr>
        <p:spPr>
          <a:xfrm>
            <a:off x="457200" y="1188720"/>
            <a:ext cx="8229600" cy="365760"/>
          </a:xfrm>
          <a:prstGeom prst="rect">
            <a:avLst/>
          </a:prstGeom>
          <a:noFill/>
          <a:ln/>
        </p:spPr>
        <p:txBody>
          <a:bodyPr wrap="square" lIns="0" tIns="0" rIns="0" bIns="0" rtlCol="0" anchor="ctr"/>
          <a:lstStyle/>
          <a:p>
            <a:pPr marL="0" indent="0">
              <a:buNone/>
            </a:pPr>
            <a:r>
              <a:rPr lang="en-US" sz="1300" i="1" dirty="0">
                <a:solidFill>
                  <a:srgbClr val="1F2A3C"/>
                </a:solidFill>
                <a:latin typeface="Arial" pitchFamily="34" charset="0"/>
                <a:ea typeface="Arial" pitchFamily="34" charset="-122"/>
                <a:cs typeface="Arial" pitchFamily="34" charset="-120"/>
              </a:rPr>
              <a:t>Our question: What makes a Steam game commercially successful, and can we predict it before release?</a:t>
            </a:r>
            <a:endParaRPr lang="en-US" sz="1300" dirty="0"/>
          </a:p>
        </p:txBody>
      </p:sp>
      <p:sp>
        <p:nvSpPr>
          <p:cNvPr id="7" name="Text 5"/>
          <p:cNvSpPr txBox="1"/>
          <p:nvPr/>
        </p:nvSpPr>
        <p:spPr>
          <a:xfrm>
            <a:off x="457200" y="1691640"/>
            <a:ext cx="3840480" cy="320040"/>
          </a:xfrm>
          <a:prstGeom prst="rect">
            <a:avLst/>
          </a:prstGeom>
          <a:noFill/>
          <a:ln/>
        </p:spPr>
        <p:txBody>
          <a:bodyPr wrap="square" lIns="0" tIns="0" rIns="0" bIns="0" rtlCol="0" anchor="ctr"/>
          <a:lstStyle/>
          <a:p>
            <a:pPr marL="0" indent="0">
              <a:buNone/>
            </a:pPr>
            <a:r>
              <a:rPr lang="en-US" sz="1600" b="1" dirty="0">
                <a:solidFill>
                  <a:srgbClr val="1F2A3C"/>
                </a:solidFill>
                <a:latin typeface="Arial" pitchFamily="34" charset="0"/>
                <a:ea typeface="Arial" pitchFamily="34" charset="-122"/>
                <a:cs typeface="Arial" pitchFamily="34" charset="-120"/>
              </a:rPr>
              <a:t>Why we chose it</a:t>
            </a:r>
            <a:endParaRPr lang="en-US" sz="1600" dirty="0"/>
          </a:p>
        </p:txBody>
      </p:sp>
      <p:sp>
        <p:nvSpPr>
          <p:cNvPr id="8" name="Text 6"/>
          <p:cNvSpPr txBox="1"/>
          <p:nvPr/>
        </p:nvSpPr>
        <p:spPr>
          <a:xfrm>
            <a:off x="457200" y="2057400"/>
            <a:ext cx="3840480" cy="25603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F2A3C"/>
                </a:solidFill>
                <a:latin typeface="Arial" pitchFamily="34" charset="0"/>
                <a:ea typeface="Arial" pitchFamily="34" charset="-122"/>
                <a:cs typeface="Arial" pitchFamily="34" charset="-120"/>
              </a:rPr>
              <a:t>It has a success measure: estimated owners</a:t>
            </a:r>
            <a:endParaRPr lang="en-US" sz="1300" dirty="0"/>
          </a:p>
          <a:p>
            <a:pPr marL="342900" indent="-342900">
              <a:spcAft>
                <a:spcPts val="800"/>
              </a:spcAft>
              <a:buSzPct val="100000"/>
              <a:buChar char="•"/>
            </a:pPr>
            <a:r>
              <a:rPr lang="en-US" sz="1300" dirty="0">
                <a:solidFill>
                  <a:srgbClr val="1F2A3C"/>
                </a:solidFill>
                <a:latin typeface="Arial" pitchFamily="34" charset="0"/>
                <a:ea typeface="Arial" pitchFamily="34" charset="-122"/>
                <a:cs typeface="Arial" pitchFamily="34" charset="-120"/>
              </a:rPr>
              <a:t>It records decisions made before launch: price, genre, platforms, languages, publisher</a:t>
            </a:r>
            <a:endParaRPr lang="en-US" sz="1300" dirty="0"/>
          </a:p>
          <a:p>
            <a:pPr marL="342900" indent="-342900">
              <a:spcAft>
                <a:spcPts val="800"/>
              </a:spcAft>
              <a:buSzPct val="100000"/>
              <a:buChar char="•"/>
            </a:pPr>
            <a:r>
              <a:rPr lang="en-US" sz="1300" dirty="0">
                <a:solidFill>
                  <a:srgbClr val="1F2A3C"/>
                </a:solidFill>
                <a:latin typeface="Arial" pitchFamily="34" charset="0"/>
                <a:ea typeface="Arial" pitchFamily="34" charset="-122"/>
                <a:cs typeface="Arial" pitchFamily="34" charset="-120"/>
              </a:rPr>
              <a:t>It covers the whole market, from small indie games to blockbusters, from 1997 to 2025</a:t>
            </a:r>
            <a:endParaRPr lang="en-US" sz="1300" dirty="0"/>
          </a:p>
          <a:p>
            <a:pPr marL="342900" indent="-342900">
              <a:spcAft>
                <a:spcPts val="800"/>
              </a:spcAft>
              <a:buSzPct val="100000"/>
              <a:buChar char="•"/>
            </a:pPr>
            <a:r>
              <a:rPr lang="en-US" sz="1300" dirty="0">
                <a:solidFill>
                  <a:srgbClr val="1F2A3C"/>
                </a:solidFill>
                <a:latin typeface="Arial" pitchFamily="34" charset="0"/>
                <a:ea typeface="Arial" pitchFamily="34" charset="-122"/>
                <a:cs typeface="Arial" pitchFamily="34" charset="-120"/>
              </a:rPr>
              <a:t>It supports both EDA and a predictive model</a:t>
            </a:r>
            <a:endParaRPr lang="en-US" sz="1300" dirty="0"/>
          </a:p>
        </p:txBody>
      </p:sp>
      <p:sp>
        <p:nvSpPr>
          <p:cNvPr id="9" name="Text 7"/>
          <p:cNvSpPr txBox="1"/>
          <p:nvPr/>
        </p:nvSpPr>
        <p:spPr>
          <a:xfrm>
            <a:off x="4663440" y="1691640"/>
            <a:ext cx="4023360" cy="320040"/>
          </a:xfrm>
          <a:prstGeom prst="rect">
            <a:avLst/>
          </a:prstGeom>
          <a:noFill/>
          <a:ln/>
        </p:spPr>
        <p:txBody>
          <a:bodyPr wrap="square" lIns="0" tIns="0" rIns="0" bIns="0" rtlCol="0" anchor="ctr"/>
          <a:lstStyle/>
          <a:p>
            <a:pPr marL="0" indent="0">
              <a:buNone/>
            </a:pPr>
            <a:r>
              <a:rPr lang="en-US" sz="1600" b="1" dirty="0">
                <a:solidFill>
                  <a:srgbClr val="1F2A3C"/>
                </a:solidFill>
                <a:latin typeface="Arial" pitchFamily="34" charset="0"/>
                <a:ea typeface="Arial" pitchFamily="34" charset="-122"/>
                <a:cs typeface="Arial" pitchFamily="34" charset="-120"/>
              </a:rPr>
              <a:t>Why it is complex</a:t>
            </a:r>
            <a:endParaRPr lang="en-US" sz="1600" dirty="0"/>
          </a:p>
        </p:txBody>
      </p:sp>
      <p:sp>
        <p:nvSpPr>
          <p:cNvPr id="10" name="Shape 8"/>
          <p:cNvSpPr/>
          <p:nvPr/>
        </p:nvSpPr>
        <p:spPr>
          <a:xfrm>
            <a:off x="4663440" y="2057400"/>
            <a:ext cx="4023360" cy="566928"/>
          </a:xfrm>
          <a:prstGeom prst="roundRect">
            <a:avLst>
              <a:gd name="adj" fmla="val 12903"/>
            </a:avLst>
          </a:prstGeom>
          <a:solidFill>
            <a:srgbClr val="EEF2F7"/>
          </a:solidFill>
          <a:ln w="12700">
            <a:solidFill>
              <a:srgbClr val="EEF2F7"/>
            </a:solidFill>
            <a:prstDash val="solid"/>
          </a:ln>
        </p:spPr>
        <p:txBody>
          <a:bodyPr/>
          <a:lstStyle/>
          <a:p>
            <a:endParaRPr lang="en-US"/>
          </a:p>
        </p:txBody>
      </p:sp>
      <p:sp>
        <p:nvSpPr>
          <p:cNvPr id="11" name="Text 9"/>
          <p:cNvSpPr txBox="1"/>
          <p:nvPr/>
        </p:nvSpPr>
        <p:spPr>
          <a:xfrm>
            <a:off x="4800600" y="2093976"/>
            <a:ext cx="3794760" cy="493776"/>
          </a:xfrm>
          <a:prstGeom prst="rect">
            <a:avLst/>
          </a:prstGeom>
          <a:noFill/>
          <a:ln/>
        </p:spPr>
        <p:txBody>
          <a:bodyPr wrap="square" lIns="0" tIns="0" rIns="0" bIns="0" rtlCol="0" anchor="ctr"/>
          <a:lstStyle/>
          <a:p>
            <a:pPr marL="0" indent="0">
              <a:buNone/>
            </a:pPr>
            <a:r>
              <a:rPr lang="en-US" sz="1100" b="1" dirty="0">
                <a:solidFill>
                  <a:srgbClr val="3D74CC"/>
                </a:solidFill>
                <a:latin typeface="Arial" pitchFamily="34" charset="0"/>
                <a:ea typeface="Arial" pitchFamily="34" charset="-122"/>
                <a:cs typeface="Arial" pitchFamily="34" charset="-120"/>
              </a:rPr>
              <a:t>List fields: </a:t>
            </a:r>
            <a:r>
              <a:rPr lang="en-US" sz="1100" dirty="0">
                <a:solidFill>
                  <a:srgbClr val="1F2A3C"/>
                </a:solidFill>
                <a:latin typeface="Arial" pitchFamily="34" charset="0"/>
                <a:ea typeface="Arial" pitchFamily="34" charset="-122"/>
                <a:cs typeface="Arial" pitchFamily="34" charset="-120"/>
              </a:rPr>
              <a:t>Genres, tags and languages are comma-separated lists that become many 0/1 columns</a:t>
            </a:r>
            <a:endParaRPr lang="en-US" sz="1100" dirty="0"/>
          </a:p>
        </p:txBody>
      </p:sp>
      <p:sp>
        <p:nvSpPr>
          <p:cNvPr id="12" name="Shape 10"/>
          <p:cNvSpPr/>
          <p:nvPr/>
        </p:nvSpPr>
        <p:spPr>
          <a:xfrm>
            <a:off x="4663440" y="2715768"/>
            <a:ext cx="4023360" cy="566928"/>
          </a:xfrm>
          <a:prstGeom prst="roundRect">
            <a:avLst>
              <a:gd name="adj" fmla="val 12903"/>
            </a:avLst>
          </a:prstGeom>
          <a:solidFill>
            <a:srgbClr val="EEF2F7"/>
          </a:solidFill>
          <a:ln w="12700">
            <a:solidFill>
              <a:srgbClr val="EEF2F7"/>
            </a:solidFill>
            <a:prstDash val="solid"/>
          </a:ln>
        </p:spPr>
        <p:txBody>
          <a:bodyPr/>
          <a:lstStyle/>
          <a:p>
            <a:endParaRPr lang="en-US"/>
          </a:p>
        </p:txBody>
      </p:sp>
      <p:sp>
        <p:nvSpPr>
          <p:cNvPr id="13" name="Text 11"/>
          <p:cNvSpPr txBox="1"/>
          <p:nvPr/>
        </p:nvSpPr>
        <p:spPr>
          <a:xfrm>
            <a:off x="4800600" y="2752344"/>
            <a:ext cx="3794760" cy="493776"/>
          </a:xfrm>
          <a:prstGeom prst="rect">
            <a:avLst/>
          </a:prstGeom>
          <a:noFill/>
          <a:ln/>
        </p:spPr>
        <p:txBody>
          <a:bodyPr wrap="square" lIns="0" tIns="0" rIns="0" bIns="0" rtlCol="0" anchor="ctr"/>
          <a:lstStyle/>
          <a:p>
            <a:pPr marL="0" indent="0">
              <a:buNone/>
            </a:pPr>
            <a:r>
              <a:rPr lang="en-US" sz="1100" b="1" dirty="0">
                <a:solidFill>
                  <a:srgbClr val="3D74CC"/>
                </a:solidFill>
                <a:latin typeface="Arial" pitchFamily="34" charset="0"/>
                <a:ea typeface="Arial" pitchFamily="34" charset="-122"/>
                <a:cs typeface="Arial" pitchFamily="34" charset="-120"/>
              </a:rPr>
              <a:t>Target is a range: </a:t>
            </a:r>
            <a:r>
              <a:rPr lang="en-US" sz="1100" dirty="0">
                <a:solidFill>
                  <a:srgbClr val="1F2A3C"/>
                </a:solidFill>
                <a:latin typeface="Arial" pitchFamily="34" charset="0"/>
                <a:ea typeface="Arial" pitchFamily="34" charset="-122"/>
                <a:cs typeface="Arial" pitchFamily="34" charset="-120"/>
              </a:rPr>
              <a:t>Owners are tiers like "0 – 20,000", not exact counts</a:t>
            </a:r>
            <a:endParaRPr lang="en-US" sz="1100" dirty="0"/>
          </a:p>
        </p:txBody>
      </p:sp>
      <p:sp>
        <p:nvSpPr>
          <p:cNvPr id="14" name="Shape 12"/>
          <p:cNvSpPr/>
          <p:nvPr/>
        </p:nvSpPr>
        <p:spPr>
          <a:xfrm>
            <a:off x="4663440" y="3374136"/>
            <a:ext cx="4023360" cy="566928"/>
          </a:xfrm>
          <a:prstGeom prst="roundRect">
            <a:avLst>
              <a:gd name="adj" fmla="val 12903"/>
            </a:avLst>
          </a:prstGeom>
          <a:solidFill>
            <a:srgbClr val="EEF2F7"/>
          </a:solidFill>
          <a:ln w="12700">
            <a:solidFill>
              <a:srgbClr val="EEF2F7"/>
            </a:solidFill>
            <a:prstDash val="solid"/>
          </a:ln>
        </p:spPr>
        <p:txBody>
          <a:bodyPr/>
          <a:lstStyle/>
          <a:p>
            <a:endParaRPr lang="en-US"/>
          </a:p>
        </p:txBody>
      </p:sp>
      <p:sp>
        <p:nvSpPr>
          <p:cNvPr id="15" name="Text 13"/>
          <p:cNvSpPr txBox="1"/>
          <p:nvPr/>
        </p:nvSpPr>
        <p:spPr>
          <a:xfrm>
            <a:off x="4800600" y="3410712"/>
            <a:ext cx="3794760" cy="493776"/>
          </a:xfrm>
          <a:prstGeom prst="rect">
            <a:avLst/>
          </a:prstGeom>
          <a:noFill/>
          <a:ln/>
        </p:spPr>
        <p:txBody>
          <a:bodyPr wrap="square" lIns="0" tIns="0" rIns="0" bIns="0" rtlCol="0" anchor="ctr"/>
          <a:lstStyle/>
          <a:p>
            <a:pPr marL="0" indent="0">
              <a:buNone/>
            </a:pPr>
            <a:r>
              <a:rPr lang="en-US" sz="1100" b="1" dirty="0">
                <a:solidFill>
                  <a:srgbClr val="3D74CC"/>
                </a:solidFill>
                <a:latin typeface="Arial" pitchFamily="34" charset="0"/>
                <a:ea typeface="Arial" pitchFamily="34" charset="-122"/>
                <a:cs typeface="Arial" pitchFamily="34" charset="-120"/>
              </a:rPr>
              <a:t>Extreme skew: </a:t>
            </a:r>
            <a:r>
              <a:rPr lang="en-US" sz="1100" dirty="0">
                <a:solidFill>
                  <a:srgbClr val="1F2A3C"/>
                </a:solidFill>
                <a:latin typeface="Arial" pitchFamily="34" charset="0"/>
                <a:ea typeface="Arial" pitchFamily="34" charset="-122"/>
                <a:cs typeface="Arial" pitchFamily="34" charset="-120"/>
              </a:rPr>
              <a:t>Most games sell little; a few hits dominate</a:t>
            </a:r>
            <a:endParaRPr lang="en-US" sz="1100" dirty="0"/>
          </a:p>
        </p:txBody>
      </p:sp>
      <p:sp>
        <p:nvSpPr>
          <p:cNvPr id="16" name="Shape 14"/>
          <p:cNvSpPr/>
          <p:nvPr/>
        </p:nvSpPr>
        <p:spPr>
          <a:xfrm>
            <a:off x="4663440" y="4032504"/>
            <a:ext cx="4023360" cy="566928"/>
          </a:xfrm>
          <a:prstGeom prst="roundRect">
            <a:avLst>
              <a:gd name="adj" fmla="val 12903"/>
            </a:avLst>
          </a:prstGeom>
          <a:solidFill>
            <a:srgbClr val="EEF2F7"/>
          </a:solidFill>
          <a:ln w="12700">
            <a:solidFill>
              <a:srgbClr val="EEF2F7"/>
            </a:solidFill>
            <a:prstDash val="solid"/>
          </a:ln>
        </p:spPr>
        <p:txBody>
          <a:bodyPr/>
          <a:lstStyle/>
          <a:p>
            <a:endParaRPr lang="en-US"/>
          </a:p>
        </p:txBody>
      </p:sp>
      <p:sp>
        <p:nvSpPr>
          <p:cNvPr id="17" name="Text 15"/>
          <p:cNvSpPr txBox="1"/>
          <p:nvPr/>
        </p:nvSpPr>
        <p:spPr>
          <a:xfrm>
            <a:off x="4800600" y="4069080"/>
            <a:ext cx="3794760" cy="493776"/>
          </a:xfrm>
          <a:prstGeom prst="rect">
            <a:avLst/>
          </a:prstGeom>
          <a:noFill/>
          <a:ln/>
        </p:spPr>
        <p:txBody>
          <a:bodyPr wrap="square" lIns="0" tIns="0" rIns="0" bIns="0" rtlCol="0" anchor="ctr"/>
          <a:lstStyle/>
          <a:p>
            <a:pPr marL="0" indent="0">
              <a:buNone/>
            </a:pPr>
            <a:r>
              <a:rPr lang="en-US" sz="1100" b="1" dirty="0">
                <a:solidFill>
                  <a:srgbClr val="3D74CC"/>
                </a:solidFill>
                <a:latin typeface="Arial" pitchFamily="34" charset="0"/>
                <a:ea typeface="Arial" pitchFamily="34" charset="-122"/>
                <a:cs typeface="Arial" pitchFamily="34" charset="-120"/>
              </a:rPr>
              <a:t>Messy file: </a:t>
            </a:r>
            <a:r>
              <a:rPr lang="en-US" sz="1100" dirty="0">
                <a:solidFill>
                  <a:srgbClr val="1F2A3C"/>
                </a:solidFill>
                <a:latin typeface="Arial" pitchFamily="34" charset="0"/>
                <a:ea typeface="Arial" pitchFamily="34" charset="-122"/>
                <a:cs typeface="Arial" pitchFamily="34" charset="-120"/>
              </a:rPr>
              <a:t>Shifted header, disguised missing values </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marL="0" indent="0">
              <a:buNone/>
            </a:pPr>
            <a:r>
              <a:rPr lang="en-US" sz="1200" b="1" dirty="0">
                <a:solidFill>
                  <a:srgbClr val="3D74CC"/>
                </a:solidFill>
                <a:latin typeface="Arial" pitchFamily="34" charset="0"/>
                <a:ea typeface="Arial" pitchFamily="34" charset="-122"/>
                <a:cs typeface="Arial" pitchFamily="34" charset="-120"/>
              </a:rPr>
              <a:t>PRELIMINARY ML DIRECTION</a:t>
            </a:r>
            <a:endParaRPr lang="en-US" sz="1200" dirty="0"/>
          </a:p>
        </p:txBody>
      </p:sp>
      <p:sp>
        <p:nvSpPr>
          <p:cNvPr id="3" name="Text 1"/>
          <p:cNvSpPr txBox="1"/>
          <p:nvPr/>
        </p:nvSpPr>
        <p:spPr>
          <a:xfrm>
            <a:off x="457200" y="548640"/>
            <a:ext cx="8229600" cy="594360"/>
          </a:xfrm>
          <a:prstGeom prst="rect">
            <a:avLst/>
          </a:prstGeom>
          <a:noFill/>
          <a:ln/>
        </p:spPr>
        <p:txBody>
          <a:bodyPr wrap="square" lIns="0" tIns="0" rIns="0" bIns="0" rtlCol="0" anchor="ctr"/>
          <a:lstStyle/>
          <a:p>
            <a:pPr marL="0" indent="0">
              <a:buNone/>
            </a:pPr>
            <a:r>
              <a:rPr lang="en-US" sz="2600" b="1" dirty="0">
                <a:solidFill>
                  <a:srgbClr val="1F2A3C"/>
                </a:solidFill>
                <a:latin typeface="Arial" pitchFamily="34" charset="0"/>
                <a:ea typeface="Arial" pitchFamily="34" charset="-122"/>
                <a:cs typeface="Arial" pitchFamily="34" charset="-120"/>
              </a:rPr>
              <a:t>Classification: will a game reach 50K+ owners?</a:t>
            </a:r>
            <a:endParaRPr lang="en-US" sz="2600" dirty="0"/>
          </a:p>
        </p:txBody>
      </p:sp>
      <p:sp>
        <p:nvSpPr>
          <p:cNvPr id="4" name="Text 2"/>
          <p:cNvSpPr txBox="1"/>
          <p:nvPr/>
        </p:nvSpPr>
        <p:spPr>
          <a:xfrm>
            <a:off x="457200" y="4754880"/>
            <a:ext cx="5486400" cy="228600"/>
          </a:xfrm>
          <a:prstGeom prst="rect">
            <a:avLst/>
          </a:prstGeom>
          <a:noFill/>
          <a:ln/>
        </p:spPr>
        <p:txBody>
          <a:bodyPr wrap="square" lIns="0" tIns="0" rIns="0" bIns="0" rtlCol="0" anchor="ctr"/>
          <a:lstStyle/>
          <a:p>
            <a:pPr marL="0" indent="0">
              <a:buNone/>
            </a:pPr>
            <a:r>
              <a:rPr lang="en-US" sz="900" dirty="0">
                <a:solidFill>
                  <a:srgbClr val="6B6B6B"/>
                </a:solidFill>
                <a:latin typeface="Arial" pitchFamily="34" charset="0"/>
                <a:ea typeface="Arial" pitchFamily="34" charset="-122"/>
                <a:cs typeface="Arial" pitchFamily="34" charset="-120"/>
              </a:rPr>
              <a:t>Dataset introduction &amp; ML direction · Chinmayi</a:t>
            </a:r>
            <a:endParaRPr lang="en-US" sz="900" dirty="0"/>
          </a:p>
        </p:txBody>
      </p:sp>
      <p:sp>
        <p:nvSpPr>
          <p:cNvPr id="5" name="Text 3"/>
          <p:cNvSpPr txBox="1"/>
          <p:nvPr/>
        </p:nvSpPr>
        <p:spPr>
          <a:xfrm>
            <a:off x="8229600" y="4754880"/>
            <a:ext cx="457200" cy="228600"/>
          </a:xfrm>
          <a:prstGeom prst="rect">
            <a:avLst/>
          </a:prstGeom>
          <a:noFill/>
          <a:ln/>
        </p:spPr>
        <p:txBody>
          <a:bodyPr wrap="square" lIns="0" tIns="0" rIns="0" bIns="0" rtlCol="0" anchor="ctr"/>
          <a:lstStyle/>
          <a:p>
            <a:pPr marL="0" indent="0" algn="r">
              <a:buNone/>
            </a:pPr>
            <a:r>
              <a:rPr lang="en-US" sz="900" dirty="0">
                <a:solidFill>
                  <a:srgbClr val="6B6B6B"/>
                </a:solidFill>
                <a:latin typeface="Arial" pitchFamily="34" charset="0"/>
                <a:ea typeface="Arial" pitchFamily="34" charset="-122"/>
                <a:cs typeface="Arial" pitchFamily="34" charset="-120"/>
              </a:rPr>
              <a:t>3</a:t>
            </a:r>
            <a:endParaRPr lang="en-US" sz="900" dirty="0"/>
          </a:p>
        </p:txBody>
      </p:sp>
      <p:sp>
        <p:nvSpPr>
          <p:cNvPr id="6" name="Shape 4"/>
          <p:cNvSpPr/>
          <p:nvPr/>
        </p:nvSpPr>
        <p:spPr>
          <a:xfrm>
            <a:off x="457200" y="1234440"/>
            <a:ext cx="3840480" cy="1554480"/>
          </a:xfrm>
          <a:prstGeom prst="roundRect">
            <a:avLst>
              <a:gd name="adj" fmla="val 4706"/>
            </a:avLst>
          </a:prstGeom>
          <a:solidFill>
            <a:srgbClr val="EEF2F7"/>
          </a:solidFill>
          <a:ln w="12700">
            <a:solidFill>
              <a:srgbClr val="EEF2F7"/>
            </a:solidFill>
            <a:prstDash val="solid"/>
          </a:ln>
        </p:spPr>
        <p:txBody>
          <a:bodyPr/>
          <a:lstStyle/>
          <a:p>
            <a:endParaRPr lang="en-US"/>
          </a:p>
        </p:txBody>
      </p:sp>
      <p:sp>
        <p:nvSpPr>
          <p:cNvPr id="7" name="Text 5"/>
          <p:cNvSpPr txBox="1"/>
          <p:nvPr/>
        </p:nvSpPr>
        <p:spPr>
          <a:xfrm>
            <a:off x="640080" y="1351387"/>
            <a:ext cx="3474720" cy="731520"/>
          </a:xfrm>
          <a:prstGeom prst="rect">
            <a:avLst/>
          </a:prstGeom>
          <a:noFill/>
          <a:ln/>
        </p:spPr>
        <p:txBody>
          <a:bodyPr wrap="square" lIns="0" tIns="0" rIns="0" bIns="0" rtlCol="0" anchor="ctr"/>
          <a:lstStyle/>
          <a:p>
            <a:pPr marL="0" indent="0">
              <a:buNone/>
            </a:pPr>
            <a:r>
              <a:rPr lang="en-US" sz="2800" b="1" dirty="0">
                <a:solidFill>
                  <a:srgbClr val="D9693A"/>
                </a:solidFill>
                <a:latin typeface="Arial" pitchFamily="34" charset="0"/>
                <a:ea typeface="Arial" pitchFamily="34" charset="-122"/>
                <a:cs typeface="Arial" pitchFamily="34" charset="-120"/>
              </a:rPr>
              <a:t>14.6%</a:t>
            </a:r>
            <a:endParaRPr lang="en-US" sz="2800" dirty="0"/>
          </a:p>
        </p:txBody>
      </p:sp>
      <p:sp>
        <p:nvSpPr>
          <p:cNvPr id="8" name="Text 6"/>
          <p:cNvSpPr txBox="1"/>
          <p:nvPr/>
        </p:nvSpPr>
        <p:spPr>
          <a:xfrm>
            <a:off x="640080" y="2011680"/>
            <a:ext cx="3474720" cy="640080"/>
          </a:xfrm>
          <a:prstGeom prst="rect">
            <a:avLst/>
          </a:prstGeom>
          <a:noFill/>
          <a:ln/>
        </p:spPr>
        <p:txBody>
          <a:bodyPr wrap="square" lIns="0" tIns="0" rIns="0" bIns="0" rtlCol="0" anchor="t"/>
          <a:lstStyle/>
          <a:p>
            <a:pPr marL="0" indent="0">
              <a:buNone/>
            </a:pPr>
            <a:r>
              <a:rPr lang="en-US" sz="1200" dirty="0">
                <a:solidFill>
                  <a:srgbClr val="1F2A3C"/>
                </a:solidFill>
                <a:latin typeface="Arial" pitchFamily="34" charset="0"/>
                <a:ea typeface="Arial" pitchFamily="34" charset="-122"/>
                <a:cs typeface="Arial" pitchFamily="34" charset="-120"/>
              </a:rPr>
              <a:t>of the 95,787 games reach 50K+ owners (14,018 games). The classes are imbalanced, as the bar chart shows.</a:t>
            </a:r>
            <a:endParaRPr lang="en-US" sz="1200" dirty="0"/>
          </a:p>
        </p:txBody>
      </p:sp>
      <p:sp>
        <p:nvSpPr>
          <p:cNvPr id="9" name="Shape 7"/>
          <p:cNvSpPr/>
          <p:nvPr/>
        </p:nvSpPr>
        <p:spPr>
          <a:xfrm>
            <a:off x="457200" y="2971800"/>
            <a:ext cx="3840480" cy="868680"/>
          </a:xfrm>
          <a:prstGeom prst="roundRect">
            <a:avLst>
              <a:gd name="adj" fmla="val 8421"/>
            </a:avLst>
          </a:prstGeom>
          <a:solidFill>
            <a:srgbClr val="EEF2F7"/>
          </a:solidFill>
          <a:ln w="12700">
            <a:solidFill>
              <a:srgbClr val="EEF2F7"/>
            </a:solidFill>
            <a:prstDash val="solid"/>
          </a:ln>
        </p:spPr>
        <p:txBody>
          <a:bodyPr/>
          <a:lstStyle/>
          <a:p>
            <a:endParaRPr lang="en-US"/>
          </a:p>
        </p:txBody>
      </p:sp>
      <p:sp>
        <p:nvSpPr>
          <p:cNvPr id="10" name="Text 8"/>
          <p:cNvSpPr txBox="1"/>
          <p:nvPr/>
        </p:nvSpPr>
        <p:spPr>
          <a:xfrm>
            <a:off x="594360" y="3035808"/>
            <a:ext cx="3611880" cy="749808"/>
          </a:xfrm>
          <a:prstGeom prst="rect">
            <a:avLst/>
          </a:prstGeom>
          <a:noFill/>
          <a:ln/>
        </p:spPr>
        <p:txBody>
          <a:bodyPr wrap="square" lIns="0" tIns="0" rIns="0" bIns="0" rtlCol="0" anchor="t"/>
          <a:lstStyle/>
          <a:p>
            <a:pPr marL="0" indent="0">
              <a:buNone/>
            </a:pPr>
            <a:r>
              <a:rPr lang="en-US" sz="1100" b="1" dirty="0">
                <a:solidFill>
                  <a:srgbClr val="3D74CC"/>
                </a:solidFill>
                <a:latin typeface="Arial" pitchFamily="34" charset="0"/>
                <a:ea typeface="Arial" pitchFamily="34" charset="-122"/>
                <a:cs typeface="Arial" pitchFamily="34" charset="-120"/>
              </a:rPr>
              <a:t>Why classification, not regression</a:t>
            </a:r>
            <a:endParaRPr lang="en-US" sz="1100" dirty="0"/>
          </a:p>
          <a:p>
            <a:pPr marL="0" indent="0">
              <a:buNone/>
            </a:pPr>
            <a:r>
              <a:rPr lang="en-US" sz="1100" dirty="0">
                <a:solidFill>
                  <a:srgbClr val="1F2A3C"/>
                </a:solidFill>
                <a:latin typeface="Arial" pitchFamily="34" charset="0"/>
                <a:ea typeface="Arial" pitchFamily="34" charset="-122"/>
                <a:cs typeface="Arial" pitchFamily="34" charset="-120"/>
              </a:rPr>
              <a:t>Owners only exist as tiers, so an exact number would invent precision the data does not have.</a:t>
            </a:r>
            <a:endParaRPr lang="en-US" sz="1100" dirty="0"/>
          </a:p>
        </p:txBody>
      </p:sp>
      <p:sp>
        <p:nvSpPr>
          <p:cNvPr id="11" name="Text 9"/>
          <p:cNvSpPr txBox="1"/>
          <p:nvPr/>
        </p:nvSpPr>
        <p:spPr>
          <a:xfrm>
            <a:off x="4663440" y="1234440"/>
            <a:ext cx="4023360" cy="320040"/>
          </a:xfrm>
          <a:prstGeom prst="rect">
            <a:avLst/>
          </a:prstGeom>
          <a:noFill/>
          <a:ln/>
        </p:spPr>
        <p:txBody>
          <a:bodyPr wrap="square" lIns="0" tIns="0" rIns="0" bIns="0" rtlCol="0" anchor="ctr"/>
          <a:lstStyle/>
          <a:p>
            <a:pPr marL="0" indent="0">
              <a:buNone/>
            </a:pPr>
            <a:r>
              <a:rPr lang="en-US" sz="1600" b="1" dirty="0">
                <a:solidFill>
                  <a:srgbClr val="1F2A3C"/>
                </a:solidFill>
                <a:latin typeface="Arial" pitchFamily="34" charset="0"/>
                <a:ea typeface="Arial" pitchFamily="34" charset="-122"/>
                <a:cs typeface="Arial" pitchFamily="34" charset="-120"/>
              </a:rPr>
              <a:t>72 pre-release features</a:t>
            </a:r>
            <a:endParaRPr lang="en-US" sz="1600" dirty="0"/>
          </a:p>
        </p:txBody>
      </p:sp>
      <p:sp>
        <p:nvSpPr>
          <p:cNvPr id="12" name="Shape 10"/>
          <p:cNvSpPr/>
          <p:nvPr/>
        </p:nvSpPr>
        <p:spPr>
          <a:xfrm>
            <a:off x="4663440" y="1600200"/>
            <a:ext cx="4023360" cy="1188720"/>
          </a:xfrm>
          <a:prstGeom prst="roundRect">
            <a:avLst>
              <a:gd name="adj" fmla="val 6154"/>
            </a:avLst>
          </a:prstGeom>
          <a:solidFill>
            <a:srgbClr val="EEF2F7"/>
          </a:solidFill>
          <a:ln w="12700">
            <a:solidFill>
              <a:srgbClr val="EEF2F7"/>
            </a:solidFill>
            <a:prstDash val="solid"/>
          </a:ln>
        </p:spPr>
        <p:txBody>
          <a:bodyPr/>
          <a:lstStyle/>
          <a:p>
            <a:endParaRPr lang="en-US"/>
          </a:p>
        </p:txBody>
      </p:sp>
      <p:sp>
        <p:nvSpPr>
          <p:cNvPr id="13" name="Text 11"/>
          <p:cNvSpPr txBox="1"/>
          <p:nvPr/>
        </p:nvSpPr>
        <p:spPr>
          <a:xfrm>
            <a:off x="4800600" y="1664208"/>
            <a:ext cx="3794760" cy="1078992"/>
          </a:xfrm>
          <a:prstGeom prst="rect">
            <a:avLst/>
          </a:prstGeom>
          <a:noFill/>
          <a:ln/>
        </p:spPr>
        <p:txBody>
          <a:bodyPr wrap="square" lIns="0" tIns="0" rIns="0" bIns="0" rtlCol="0" anchor="t"/>
          <a:lstStyle/>
          <a:p>
            <a:pPr marL="0" indent="0">
              <a:buNone/>
            </a:pPr>
            <a:r>
              <a:rPr lang="en-US" sz="1100" b="1" dirty="0">
                <a:solidFill>
                  <a:srgbClr val="3D74CC"/>
                </a:solidFill>
                <a:latin typeface="Arial" pitchFamily="34" charset="0"/>
                <a:ea typeface="Arial" pitchFamily="34" charset="-122"/>
                <a:cs typeface="Arial" pitchFamily="34" charset="-120"/>
              </a:rPr>
              <a:t>Use: known before launch</a:t>
            </a:r>
            <a:endParaRPr lang="en-US" sz="1100" dirty="0"/>
          </a:p>
          <a:p>
            <a:pPr marL="0" indent="0">
              <a:buNone/>
            </a:pPr>
            <a:r>
              <a:rPr lang="en-US" sz="1100" dirty="0">
                <a:solidFill>
                  <a:srgbClr val="1F2A3C"/>
                </a:solidFill>
                <a:latin typeface="Arial" pitchFamily="34" charset="0"/>
                <a:ea typeface="Arial" pitchFamily="34" charset="-122"/>
                <a:cs typeface="Arial" pitchFamily="34" charset="-120"/>
              </a:rPr>
              <a:t>Price, free-to-play · genres, categories (multiplayer, co-op, Workshop) · platform count · number of languages · release month &amp; weekday · publisher experience · screenshot &amp; trailer counts</a:t>
            </a:r>
            <a:endParaRPr lang="en-US" sz="1100" dirty="0"/>
          </a:p>
        </p:txBody>
      </p:sp>
      <p:sp>
        <p:nvSpPr>
          <p:cNvPr id="14" name="Shape 12"/>
          <p:cNvSpPr/>
          <p:nvPr/>
        </p:nvSpPr>
        <p:spPr>
          <a:xfrm>
            <a:off x="4663440" y="2971800"/>
            <a:ext cx="4023360" cy="868680"/>
          </a:xfrm>
          <a:prstGeom prst="roundRect">
            <a:avLst>
              <a:gd name="adj" fmla="val 8421"/>
            </a:avLst>
          </a:prstGeom>
          <a:solidFill>
            <a:srgbClr val="EEF2F7"/>
          </a:solidFill>
          <a:ln w="12700">
            <a:solidFill>
              <a:srgbClr val="EEF2F7"/>
            </a:solidFill>
            <a:prstDash val="solid"/>
          </a:ln>
        </p:spPr>
        <p:txBody>
          <a:bodyPr/>
          <a:lstStyle/>
          <a:p>
            <a:endParaRPr lang="en-US"/>
          </a:p>
        </p:txBody>
      </p:sp>
      <p:sp>
        <p:nvSpPr>
          <p:cNvPr id="15" name="Text 13"/>
          <p:cNvSpPr txBox="1"/>
          <p:nvPr/>
        </p:nvSpPr>
        <p:spPr>
          <a:xfrm>
            <a:off x="4800600" y="3035808"/>
            <a:ext cx="3794760" cy="749808"/>
          </a:xfrm>
          <a:prstGeom prst="rect">
            <a:avLst/>
          </a:prstGeom>
          <a:noFill/>
          <a:ln/>
        </p:spPr>
        <p:txBody>
          <a:bodyPr wrap="square" lIns="0" tIns="0" rIns="0" bIns="0" rtlCol="0" anchor="t"/>
          <a:lstStyle/>
          <a:p>
            <a:pPr marL="0" indent="0">
              <a:buNone/>
            </a:pPr>
            <a:r>
              <a:rPr lang="en-US" sz="1100" b="1" dirty="0">
                <a:solidFill>
                  <a:srgbClr val="D9693A"/>
                </a:solidFill>
                <a:latin typeface="Arial" pitchFamily="34" charset="0"/>
                <a:ea typeface="Arial" pitchFamily="34" charset="-122"/>
                <a:cs typeface="Arial" pitchFamily="34" charset="-120"/>
              </a:rPr>
              <a:t>Exclude: only known after launch (leakage)</a:t>
            </a:r>
            <a:endParaRPr lang="en-US" sz="1100" dirty="0"/>
          </a:p>
          <a:p>
            <a:pPr marL="0" indent="0">
              <a:buNone/>
            </a:pPr>
            <a:r>
              <a:rPr lang="en-US" sz="1100" dirty="0">
                <a:solidFill>
                  <a:srgbClr val="1F2A3C"/>
                </a:solidFill>
                <a:latin typeface="Arial" pitchFamily="34" charset="0"/>
                <a:ea typeface="Arial" pitchFamily="34" charset="-122"/>
                <a:cs typeface="Arial" pitchFamily="34" charset="-120"/>
              </a:rPr>
              <a:t>Reviews, user &amp; Metacritic scores · playtime · peak players · recommendations · DLC count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marL="0" indent="0">
              <a:buNone/>
            </a:pPr>
            <a:r>
              <a:rPr lang="en-US" sz="1200" b="1" dirty="0">
                <a:solidFill>
                  <a:srgbClr val="3D74CC"/>
                </a:solidFill>
                <a:latin typeface="Arial" pitchFamily="34" charset="0"/>
                <a:ea typeface="Arial" pitchFamily="34" charset="-122"/>
                <a:cs typeface="Arial" pitchFamily="34" charset="-120"/>
              </a:rPr>
              <a:t>PRELIMINARY ML DIRECTION</a:t>
            </a:r>
            <a:endParaRPr lang="en-US" sz="1200" dirty="0"/>
          </a:p>
        </p:txBody>
      </p:sp>
      <p:sp>
        <p:nvSpPr>
          <p:cNvPr id="3" name="Text 1"/>
          <p:cNvSpPr txBox="1"/>
          <p:nvPr/>
        </p:nvSpPr>
        <p:spPr>
          <a:xfrm>
            <a:off x="457200" y="548640"/>
            <a:ext cx="8229600" cy="594360"/>
          </a:xfrm>
          <a:prstGeom prst="rect">
            <a:avLst/>
          </a:prstGeom>
          <a:noFill/>
          <a:ln/>
        </p:spPr>
        <p:txBody>
          <a:bodyPr wrap="square" lIns="0" tIns="0" rIns="0" bIns="0" rtlCol="0" anchor="ctr"/>
          <a:lstStyle/>
          <a:p>
            <a:pPr marL="0" indent="0">
              <a:buNone/>
            </a:pPr>
            <a:r>
              <a:rPr lang="en-US" sz="2600" b="1" dirty="0">
                <a:solidFill>
                  <a:srgbClr val="1F2A3C"/>
                </a:solidFill>
                <a:latin typeface="Arial" pitchFamily="34" charset="0"/>
                <a:ea typeface="Arial" pitchFamily="34" charset="-122"/>
                <a:cs typeface="Arial" pitchFamily="34" charset="-120"/>
              </a:rPr>
              <a:t>How our EDA findings shape the model</a:t>
            </a:r>
            <a:endParaRPr lang="en-US" sz="2600" dirty="0"/>
          </a:p>
        </p:txBody>
      </p:sp>
      <p:sp>
        <p:nvSpPr>
          <p:cNvPr id="4" name="Text 2"/>
          <p:cNvSpPr txBox="1"/>
          <p:nvPr/>
        </p:nvSpPr>
        <p:spPr>
          <a:xfrm>
            <a:off x="457200" y="4754880"/>
            <a:ext cx="5486400" cy="228600"/>
          </a:xfrm>
          <a:prstGeom prst="rect">
            <a:avLst/>
          </a:prstGeom>
          <a:noFill/>
          <a:ln/>
        </p:spPr>
        <p:txBody>
          <a:bodyPr wrap="square" lIns="0" tIns="0" rIns="0" bIns="0" rtlCol="0" anchor="ctr"/>
          <a:lstStyle/>
          <a:p>
            <a:pPr marL="0" indent="0">
              <a:buNone/>
            </a:pPr>
            <a:r>
              <a:rPr lang="en-US" sz="900" dirty="0">
                <a:solidFill>
                  <a:srgbClr val="6B6B6B"/>
                </a:solidFill>
                <a:latin typeface="Arial" pitchFamily="34" charset="0"/>
                <a:ea typeface="Arial" pitchFamily="34" charset="-122"/>
                <a:cs typeface="Arial" pitchFamily="34" charset="-120"/>
              </a:rPr>
              <a:t>Dataset introduction &amp; ML direction · Chinmayi</a:t>
            </a:r>
            <a:endParaRPr lang="en-US" sz="900" dirty="0"/>
          </a:p>
        </p:txBody>
      </p:sp>
      <p:sp>
        <p:nvSpPr>
          <p:cNvPr id="5" name="Text 3"/>
          <p:cNvSpPr txBox="1"/>
          <p:nvPr/>
        </p:nvSpPr>
        <p:spPr>
          <a:xfrm>
            <a:off x="8229600" y="4754880"/>
            <a:ext cx="457200" cy="228600"/>
          </a:xfrm>
          <a:prstGeom prst="rect">
            <a:avLst/>
          </a:prstGeom>
          <a:noFill/>
          <a:ln/>
        </p:spPr>
        <p:txBody>
          <a:bodyPr wrap="square" lIns="0" tIns="0" rIns="0" bIns="0" rtlCol="0" anchor="ctr"/>
          <a:lstStyle/>
          <a:p>
            <a:pPr marL="0" indent="0" algn="r">
              <a:buNone/>
            </a:pPr>
            <a:r>
              <a:rPr lang="en-US" sz="900" dirty="0">
                <a:solidFill>
                  <a:srgbClr val="6B6B6B"/>
                </a:solidFill>
                <a:latin typeface="Arial" pitchFamily="34" charset="0"/>
                <a:ea typeface="Arial" pitchFamily="34" charset="-122"/>
                <a:cs typeface="Arial" pitchFamily="34" charset="-120"/>
              </a:rPr>
              <a:t>4</a:t>
            </a:r>
            <a:endParaRPr lang="en-US" sz="900" dirty="0"/>
          </a:p>
        </p:txBody>
      </p:sp>
      <p:sp>
        <p:nvSpPr>
          <p:cNvPr id="6" name="Text 4"/>
          <p:cNvSpPr txBox="1"/>
          <p:nvPr/>
        </p:nvSpPr>
        <p:spPr>
          <a:xfrm>
            <a:off x="457200" y="1234440"/>
            <a:ext cx="3657600" cy="274320"/>
          </a:xfrm>
          <a:prstGeom prst="rect">
            <a:avLst/>
          </a:prstGeom>
          <a:noFill/>
          <a:ln/>
        </p:spPr>
        <p:txBody>
          <a:bodyPr wrap="square" lIns="0" tIns="0" rIns="0" bIns="0" rtlCol="0" anchor="ctr"/>
          <a:lstStyle/>
          <a:p>
            <a:pPr marL="0" indent="0">
              <a:buNone/>
            </a:pPr>
            <a:r>
              <a:rPr lang="en-US" sz="1200" b="1" dirty="0">
                <a:solidFill>
                  <a:srgbClr val="6B6B6B"/>
                </a:solidFill>
                <a:latin typeface="Arial" pitchFamily="34" charset="0"/>
                <a:ea typeface="Arial" pitchFamily="34" charset="-122"/>
                <a:cs typeface="Arial" pitchFamily="34" charset="-120"/>
              </a:rPr>
              <a:t>EDA finding</a:t>
            </a:r>
            <a:endParaRPr lang="en-US" sz="1200" dirty="0"/>
          </a:p>
        </p:txBody>
      </p:sp>
      <p:sp>
        <p:nvSpPr>
          <p:cNvPr id="7" name="Text 5"/>
          <p:cNvSpPr txBox="1"/>
          <p:nvPr/>
        </p:nvSpPr>
        <p:spPr>
          <a:xfrm>
            <a:off x="4572000" y="1234440"/>
            <a:ext cx="4114800" cy="274320"/>
          </a:xfrm>
          <a:prstGeom prst="rect">
            <a:avLst/>
          </a:prstGeom>
          <a:noFill/>
          <a:ln/>
        </p:spPr>
        <p:txBody>
          <a:bodyPr wrap="square" lIns="0" tIns="0" rIns="0" bIns="0" rtlCol="0" anchor="ctr"/>
          <a:lstStyle/>
          <a:p>
            <a:pPr marL="0" indent="0">
              <a:buNone/>
            </a:pPr>
            <a:r>
              <a:rPr lang="en-US" sz="1200" b="1" dirty="0">
                <a:solidFill>
                  <a:srgbClr val="6B6B6B"/>
                </a:solidFill>
                <a:latin typeface="Arial" pitchFamily="34" charset="0"/>
                <a:ea typeface="Arial" pitchFamily="34" charset="-122"/>
                <a:cs typeface="Arial" pitchFamily="34" charset="-120"/>
              </a:rPr>
              <a:t>ML decision</a:t>
            </a:r>
            <a:endParaRPr lang="en-US" sz="1200" dirty="0"/>
          </a:p>
        </p:txBody>
      </p:sp>
      <p:sp>
        <p:nvSpPr>
          <p:cNvPr id="8" name="Shape 6"/>
          <p:cNvSpPr/>
          <p:nvPr/>
        </p:nvSpPr>
        <p:spPr>
          <a:xfrm>
            <a:off x="457200" y="1536192"/>
            <a:ext cx="3657600" cy="603504"/>
          </a:xfrm>
          <a:prstGeom prst="roundRect">
            <a:avLst>
              <a:gd name="adj" fmla="val 12121"/>
            </a:avLst>
          </a:prstGeom>
          <a:solidFill>
            <a:srgbClr val="EEF2F7"/>
          </a:solidFill>
          <a:ln w="12700">
            <a:solidFill>
              <a:srgbClr val="EEF2F7"/>
            </a:solidFill>
            <a:prstDash val="solid"/>
          </a:ln>
        </p:spPr>
        <p:txBody>
          <a:bodyPr/>
          <a:lstStyle/>
          <a:p>
            <a:endParaRPr lang="en-US"/>
          </a:p>
        </p:txBody>
      </p:sp>
      <p:sp>
        <p:nvSpPr>
          <p:cNvPr id="9" name="Text 7"/>
          <p:cNvSpPr txBox="1"/>
          <p:nvPr/>
        </p:nvSpPr>
        <p:spPr>
          <a:xfrm>
            <a:off x="594360" y="1536192"/>
            <a:ext cx="3429000" cy="603504"/>
          </a:xfrm>
          <a:prstGeom prst="rect">
            <a:avLst/>
          </a:prstGeom>
          <a:noFill/>
          <a:ln/>
        </p:spPr>
        <p:txBody>
          <a:bodyPr wrap="square" lIns="0" tIns="0" rIns="0" bIns="0" rtlCol="0" anchor="ctr"/>
          <a:lstStyle/>
          <a:p>
            <a:pPr marL="0" indent="0">
              <a:buNone/>
            </a:pPr>
            <a:r>
              <a:rPr lang="en-US" sz="1100" b="1" dirty="0">
                <a:solidFill>
                  <a:srgbClr val="1F2A3C"/>
                </a:solidFill>
                <a:latin typeface="Arial" pitchFamily="34" charset="0"/>
                <a:ea typeface="Arial" pitchFamily="34" charset="-122"/>
                <a:cs typeface="Arial" pitchFamily="34" charset="-120"/>
              </a:rPr>
              <a:t>Only 14.6% of games are hits</a:t>
            </a:r>
            <a:endParaRPr lang="en-US" sz="1100" dirty="0"/>
          </a:p>
        </p:txBody>
      </p:sp>
      <p:sp>
        <p:nvSpPr>
          <p:cNvPr id="10" name="Shape 8"/>
          <p:cNvSpPr/>
          <p:nvPr/>
        </p:nvSpPr>
        <p:spPr>
          <a:xfrm>
            <a:off x="4206240" y="1728216"/>
            <a:ext cx="274320" cy="219456"/>
          </a:xfrm>
          <a:prstGeom prst="rightArrow">
            <a:avLst/>
          </a:prstGeom>
          <a:solidFill>
            <a:srgbClr val="3D74CC"/>
          </a:solidFill>
          <a:ln w="12700">
            <a:solidFill>
              <a:srgbClr val="3D74CC"/>
            </a:solidFill>
            <a:prstDash val="solid"/>
          </a:ln>
        </p:spPr>
        <p:txBody>
          <a:bodyPr/>
          <a:lstStyle/>
          <a:p>
            <a:endParaRPr lang="en-US"/>
          </a:p>
        </p:txBody>
      </p:sp>
      <p:sp>
        <p:nvSpPr>
          <p:cNvPr id="11" name="Text 9"/>
          <p:cNvSpPr txBox="1"/>
          <p:nvPr/>
        </p:nvSpPr>
        <p:spPr>
          <a:xfrm>
            <a:off x="4572000" y="1536192"/>
            <a:ext cx="4114800" cy="603504"/>
          </a:xfrm>
          <a:prstGeom prst="rect">
            <a:avLst/>
          </a:prstGeom>
          <a:noFill/>
          <a:ln/>
        </p:spPr>
        <p:txBody>
          <a:bodyPr wrap="square" lIns="0" tIns="0" rIns="0" bIns="0" rtlCol="0" anchor="ctr"/>
          <a:lstStyle/>
          <a:p>
            <a:pPr marL="0" indent="0">
              <a:buNone/>
            </a:pPr>
            <a:r>
              <a:rPr lang="en-US" sz="1100" dirty="0">
                <a:solidFill>
                  <a:srgbClr val="1F2A3C"/>
                </a:solidFill>
                <a:latin typeface="Arial" pitchFamily="34" charset="0"/>
                <a:ea typeface="Arial" pitchFamily="34" charset="-122"/>
                <a:cs typeface="Arial" pitchFamily="34" charset="-120"/>
              </a:rPr>
              <a:t>Class weights or SMOTE; judge by F1, recall and PR-AUC, not accuracy</a:t>
            </a:r>
            <a:endParaRPr lang="en-US" sz="1100" dirty="0"/>
          </a:p>
        </p:txBody>
      </p:sp>
      <p:sp>
        <p:nvSpPr>
          <p:cNvPr id="12" name="Shape 10"/>
          <p:cNvSpPr/>
          <p:nvPr/>
        </p:nvSpPr>
        <p:spPr>
          <a:xfrm>
            <a:off x="457200" y="2212848"/>
            <a:ext cx="3657600" cy="603504"/>
          </a:xfrm>
          <a:prstGeom prst="roundRect">
            <a:avLst>
              <a:gd name="adj" fmla="val 12121"/>
            </a:avLst>
          </a:prstGeom>
          <a:solidFill>
            <a:srgbClr val="EEF2F7"/>
          </a:solidFill>
          <a:ln w="12700">
            <a:solidFill>
              <a:srgbClr val="EEF2F7"/>
            </a:solidFill>
            <a:prstDash val="solid"/>
          </a:ln>
        </p:spPr>
        <p:txBody>
          <a:bodyPr/>
          <a:lstStyle/>
          <a:p>
            <a:endParaRPr lang="en-US"/>
          </a:p>
        </p:txBody>
      </p:sp>
      <p:sp>
        <p:nvSpPr>
          <p:cNvPr id="13" name="Text 11"/>
          <p:cNvSpPr txBox="1"/>
          <p:nvPr/>
        </p:nvSpPr>
        <p:spPr>
          <a:xfrm>
            <a:off x="594360" y="2212848"/>
            <a:ext cx="3429000" cy="603504"/>
          </a:xfrm>
          <a:prstGeom prst="rect">
            <a:avLst/>
          </a:prstGeom>
          <a:noFill/>
          <a:ln/>
        </p:spPr>
        <p:txBody>
          <a:bodyPr wrap="square" lIns="0" tIns="0" rIns="0" bIns="0" rtlCol="0" anchor="ctr"/>
          <a:lstStyle/>
          <a:p>
            <a:pPr marL="0" indent="0">
              <a:buNone/>
            </a:pPr>
            <a:r>
              <a:rPr lang="en-US" sz="1100" b="1" dirty="0">
                <a:solidFill>
                  <a:srgbClr val="1F2A3C"/>
                </a:solidFill>
                <a:latin typeface="Arial" pitchFamily="34" charset="0"/>
                <a:ea typeface="Arial" pitchFamily="34" charset="-122"/>
                <a:cs typeface="Arial" pitchFamily="34" charset="-120"/>
              </a:rPr>
              <a:t>Price is not a straight line: 12% hit rate at $0–5, 25% at $20–40, under 1% above $100. Genre changes the pattern.</a:t>
            </a:r>
            <a:endParaRPr lang="en-US" sz="1100" dirty="0"/>
          </a:p>
        </p:txBody>
      </p:sp>
      <p:sp>
        <p:nvSpPr>
          <p:cNvPr id="14" name="Shape 12"/>
          <p:cNvSpPr/>
          <p:nvPr/>
        </p:nvSpPr>
        <p:spPr>
          <a:xfrm>
            <a:off x="4206240" y="2404872"/>
            <a:ext cx="274320" cy="219456"/>
          </a:xfrm>
          <a:prstGeom prst="rightArrow">
            <a:avLst/>
          </a:prstGeom>
          <a:solidFill>
            <a:srgbClr val="3D74CC"/>
          </a:solidFill>
          <a:ln w="12700">
            <a:solidFill>
              <a:srgbClr val="3D74CC"/>
            </a:solidFill>
            <a:prstDash val="solid"/>
          </a:ln>
        </p:spPr>
        <p:txBody>
          <a:bodyPr/>
          <a:lstStyle/>
          <a:p>
            <a:endParaRPr lang="en-US"/>
          </a:p>
        </p:txBody>
      </p:sp>
      <p:sp>
        <p:nvSpPr>
          <p:cNvPr id="15" name="Text 13"/>
          <p:cNvSpPr txBox="1"/>
          <p:nvPr/>
        </p:nvSpPr>
        <p:spPr>
          <a:xfrm>
            <a:off x="4572000" y="2212848"/>
            <a:ext cx="4114800" cy="603504"/>
          </a:xfrm>
          <a:prstGeom prst="rect">
            <a:avLst/>
          </a:prstGeom>
          <a:noFill/>
          <a:ln/>
        </p:spPr>
        <p:txBody>
          <a:bodyPr wrap="square" lIns="0" tIns="0" rIns="0" bIns="0" rtlCol="0" anchor="ctr"/>
          <a:lstStyle/>
          <a:p>
            <a:pPr marL="0" indent="0">
              <a:buNone/>
            </a:pPr>
            <a:r>
              <a:rPr lang="en-US" sz="1100" dirty="0">
                <a:solidFill>
                  <a:srgbClr val="1F2A3C"/>
                </a:solidFill>
                <a:latin typeface="Arial" pitchFamily="34" charset="0"/>
                <a:ea typeface="Arial" pitchFamily="34" charset="-122"/>
                <a:cs typeface="Arial" pitchFamily="34" charset="-120"/>
              </a:rPr>
              <a:t>Tree models (Random Forest, XGBoost) capture curves and genre × price effects; logistic regression as baseline</a:t>
            </a:r>
            <a:endParaRPr lang="en-US" sz="1100" dirty="0"/>
          </a:p>
        </p:txBody>
      </p:sp>
      <p:sp>
        <p:nvSpPr>
          <p:cNvPr id="16" name="Shape 14"/>
          <p:cNvSpPr/>
          <p:nvPr/>
        </p:nvSpPr>
        <p:spPr>
          <a:xfrm>
            <a:off x="457200" y="2889504"/>
            <a:ext cx="3657600" cy="603504"/>
          </a:xfrm>
          <a:prstGeom prst="roundRect">
            <a:avLst>
              <a:gd name="adj" fmla="val 12121"/>
            </a:avLst>
          </a:prstGeom>
          <a:solidFill>
            <a:srgbClr val="EEF2F7"/>
          </a:solidFill>
          <a:ln w="12700">
            <a:solidFill>
              <a:srgbClr val="EEF2F7"/>
            </a:solidFill>
            <a:prstDash val="solid"/>
          </a:ln>
        </p:spPr>
        <p:txBody>
          <a:bodyPr/>
          <a:lstStyle/>
          <a:p>
            <a:endParaRPr lang="en-US"/>
          </a:p>
        </p:txBody>
      </p:sp>
      <p:sp>
        <p:nvSpPr>
          <p:cNvPr id="17" name="Text 15"/>
          <p:cNvSpPr txBox="1"/>
          <p:nvPr/>
        </p:nvSpPr>
        <p:spPr>
          <a:xfrm>
            <a:off x="594360" y="2889504"/>
            <a:ext cx="3429000" cy="603504"/>
          </a:xfrm>
          <a:prstGeom prst="rect">
            <a:avLst/>
          </a:prstGeom>
          <a:noFill/>
          <a:ln/>
        </p:spPr>
        <p:txBody>
          <a:bodyPr wrap="square" lIns="0" tIns="0" rIns="0" bIns="0" rtlCol="0" anchor="ctr"/>
          <a:lstStyle/>
          <a:p>
            <a:pPr marL="0" indent="0">
              <a:buNone/>
            </a:pPr>
            <a:r>
              <a:rPr lang="en-US" sz="1100" b="1" dirty="0">
                <a:solidFill>
                  <a:srgbClr val="1F2A3C"/>
                </a:solidFill>
                <a:latin typeface="Arial" pitchFamily="34" charset="0"/>
                <a:ea typeface="Arial" pitchFamily="34" charset="-122"/>
                <a:cs typeface="Arial" pitchFamily="34" charset="-120"/>
              </a:rPr>
              <a:t>Hit rate falls from 71% (pre-2010) to 4% (2025) as releases nearly quadruple</a:t>
            </a:r>
            <a:endParaRPr lang="en-US" sz="1100" dirty="0"/>
          </a:p>
        </p:txBody>
      </p:sp>
      <p:sp>
        <p:nvSpPr>
          <p:cNvPr id="18" name="Shape 16"/>
          <p:cNvSpPr/>
          <p:nvPr/>
        </p:nvSpPr>
        <p:spPr>
          <a:xfrm>
            <a:off x="4206240" y="3081528"/>
            <a:ext cx="274320" cy="219456"/>
          </a:xfrm>
          <a:prstGeom prst="rightArrow">
            <a:avLst/>
          </a:prstGeom>
          <a:solidFill>
            <a:srgbClr val="3D74CC"/>
          </a:solidFill>
          <a:ln w="12700">
            <a:solidFill>
              <a:srgbClr val="3D74CC"/>
            </a:solidFill>
            <a:prstDash val="solid"/>
          </a:ln>
        </p:spPr>
        <p:txBody>
          <a:bodyPr/>
          <a:lstStyle/>
          <a:p>
            <a:endParaRPr lang="en-US"/>
          </a:p>
        </p:txBody>
      </p:sp>
      <p:sp>
        <p:nvSpPr>
          <p:cNvPr id="19" name="Text 17"/>
          <p:cNvSpPr txBox="1"/>
          <p:nvPr/>
        </p:nvSpPr>
        <p:spPr>
          <a:xfrm>
            <a:off x="4572000" y="2889504"/>
            <a:ext cx="4114800" cy="603504"/>
          </a:xfrm>
          <a:prstGeom prst="rect">
            <a:avLst/>
          </a:prstGeom>
          <a:noFill/>
          <a:ln/>
        </p:spPr>
        <p:txBody>
          <a:bodyPr wrap="square" lIns="0" tIns="0" rIns="0" bIns="0" rtlCol="0" anchor="ctr"/>
          <a:lstStyle/>
          <a:p>
            <a:pPr marL="0" indent="0">
              <a:buNone/>
            </a:pPr>
            <a:r>
              <a:rPr lang="en-US" sz="1100" dirty="0">
                <a:solidFill>
                  <a:srgbClr val="1F2A3C"/>
                </a:solidFill>
                <a:latin typeface="Arial" pitchFamily="34" charset="0"/>
                <a:ea typeface="Arial" pitchFamily="34" charset="-122"/>
                <a:cs typeface="Arial" pitchFamily="34" charset="-120"/>
              </a:rPr>
              <a:t>Split by release date (train to 2021: 21% hits; test 2022+: 8%) and compare against the test baseline</a:t>
            </a:r>
            <a:endParaRPr lang="en-US" sz="1100" dirty="0"/>
          </a:p>
        </p:txBody>
      </p:sp>
      <p:sp>
        <p:nvSpPr>
          <p:cNvPr id="20" name="Shape 18"/>
          <p:cNvSpPr/>
          <p:nvPr/>
        </p:nvSpPr>
        <p:spPr>
          <a:xfrm>
            <a:off x="457200" y="3566160"/>
            <a:ext cx="3657600" cy="603504"/>
          </a:xfrm>
          <a:prstGeom prst="roundRect">
            <a:avLst>
              <a:gd name="adj" fmla="val 12121"/>
            </a:avLst>
          </a:prstGeom>
          <a:solidFill>
            <a:srgbClr val="EEF2F7"/>
          </a:solidFill>
          <a:ln w="12700">
            <a:solidFill>
              <a:srgbClr val="EEF2F7"/>
            </a:solidFill>
            <a:prstDash val="solid"/>
          </a:ln>
        </p:spPr>
        <p:txBody>
          <a:bodyPr/>
          <a:lstStyle/>
          <a:p>
            <a:endParaRPr lang="en-US"/>
          </a:p>
        </p:txBody>
      </p:sp>
      <p:sp>
        <p:nvSpPr>
          <p:cNvPr id="21" name="Text 19"/>
          <p:cNvSpPr txBox="1"/>
          <p:nvPr/>
        </p:nvSpPr>
        <p:spPr>
          <a:xfrm>
            <a:off x="594360" y="3566160"/>
            <a:ext cx="3429000" cy="603504"/>
          </a:xfrm>
          <a:prstGeom prst="rect">
            <a:avLst/>
          </a:prstGeom>
          <a:noFill/>
          <a:ln/>
        </p:spPr>
        <p:txBody>
          <a:bodyPr wrap="square" lIns="0" tIns="0" rIns="0" bIns="0" rtlCol="0" anchor="ctr"/>
          <a:lstStyle/>
          <a:p>
            <a:pPr marL="0" indent="0">
              <a:buNone/>
            </a:pPr>
            <a:r>
              <a:rPr lang="en-US" sz="1100" b="1" dirty="0">
                <a:solidFill>
                  <a:srgbClr val="1F2A3C"/>
                </a:solidFill>
                <a:latin typeface="Arial" pitchFamily="34" charset="0"/>
                <a:ea typeface="Arial" pitchFamily="34" charset="-122"/>
                <a:cs typeface="Arial" pitchFamily="34" charset="-120"/>
              </a:rPr>
              <a:t>Publishers with 5+ earlier games: 22% hits vs 11% for a first game</a:t>
            </a:r>
            <a:endParaRPr lang="en-US" sz="1100" dirty="0"/>
          </a:p>
        </p:txBody>
      </p:sp>
      <p:sp>
        <p:nvSpPr>
          <p:cNvPr id="22" name="Shape 20"/>
          <p:cNvSpPr/>
          <p:nvPr/>
        </p:nvSpPr>
        <p:spPr>
          <a:xfrm>
            <a:off x="4206240" y="3758184"/>
            <a:ext cx="274320" cy="219456"/>
          </a:xfrm>
          <a:prstGeom prst="rightArrow">
            <a:avLst/>
          </a:prstGeom>
          <a:solidFill>
            <a:srgbClr val="3D74CC"/>
          </a:solidFill>
          <a:ln w="12700">
            <a:solidFill>
              <a:srgbClr val="3D74CC"/>
            </a:solidFill>
            <a:prstDash val="solid"/>
          </a:ln>
        </p:spPr>
        <p:txBody>
          <a:bodyPr/>
          <a:lstStyle/>
          <a:p>
            <a:endParaRPr lang="en-US"/>
          </a:p>
        </p:txBody>
      </p:sp>
      <p:sp>
        <p:nvSpPr>
          <p:cNvPr id="23" name="Text 21"/>
          <p:cNvSpPr txBox="1"/>
          <p:nvPr/>
        </p:nvSpPr>
        <p:spPr>
          <a:xfrm>
            <a:off x="4572000" y="3566160"/>
            <a:ext cx="4114800" cy="603504"/>
          </a:xfrm>
          <a:prstGeom prst="rect">
            <a:avLst/>
          </a:prstGeom>
          <a:noFill/>
          <a:ln/>
        </p:spPr>
        <p:txBody>
          <a:bodyPr wrap="square" lIns="0" tIns="0" rIns="0" bIns="0" rtlCol="0" anchor="ctr"/>
          <a:lstStyle/>
          <a:p>
            <a:pPr marL="0" indent="0">
              <a:buNone/>
            </a:pPr>
            <a:r>
              <a:rPr lang="en-US" sz="1100" dirty="0">
                <a:solidFill>
                  <a:srgbClr val="1F2A3C"/>
                </a:solidFill>
                <a:latin typeface="Arial" pitchFamily="34" charset="0"/>
                <a:ea typeface="Arial" pitchFamily="34" charset="-122"/>
                <a:cs typeface="Arial" pitchFamily="34" charset="-120"/>
              </a:rPr>
              <a:t>Keep prior-release count (earlier games only); drop the original publisher count, which includes future games</a:t>
            </a:r>
            <a:endParaRPr lang="en-US" sz="1100" dirty="0"/>
          </a:p>
        </p:txBody>
      </p:sp>
      <p:sp>
        <p:nvSpPr>
          <p:cNvPr id="24" name="Text 22"/>
          <p:cNvSpPr txBox="1"/>
          <p:nvPr/>
        </p:nvSpPr>
        <p:spPr>
          <a:xfrm>
            <a:off x="457200" y="4279392"/>
            <a:ext cx="8229600" cy="411480"/>
          </a:xfrm>
          <a:prstGeom prst="rect">
            <a:avLst/>
          </a:prstGeom>
          <a:noFill/>
          <a:ln/>
        </p:spPr>
        <p:txBody>
          <a:bodyPr wrap="square" lIns="0" tIns="0" rIns="0" bIns="0" rtlCol="0" anchor="t"/>
          <a:lstStyle/>
          <a:p>
            <a:pPr marL="0" indent="0">
              <a:buNone/>
            </a:pPr>
            <a:r>
              <a:rPr lang="en-US" sz="1100" b="1" dirty="0">
                <a:solidFill>
                  <a:srgbClr val="3D74CC"/>
                </a:solidFill>
                <a:latin typeface="Arial" pitchFamily="34" charset="0"/>
                <a:ea typeface="Arial" pitchFamily="34" charset="-122"/>
                <a:cs typeface="Arial" pitchFamily="34" charset="-120"/>
              </a:rPr>
              <a:t>Which features matter most? </a:t>
            </a:r>
            <a:r>
              <a:rPr lang="en-US" sz="1100" dirty="0">
                <a:solidFill>
                  <a:srgbClr val="1F2A3C"/>
                </a:solidFill>
                <a:latin typeface="Arial" pitchFamily="34" charset="0"/>
                <a:ea typeface="Arial" pitchFamily="34" charset="-122"/>
                <a:cs typeface="Arial" pitchFamily="34" charset="-120"/>
              </a:rPr>
              <a:t>Permutation importance and SHAP on the best model, checked against the EDA charts. GPU option: RAPIDS cuDF / cuML for the large one-hot feature matrix.</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1123</Words>
  <Application>Microsoft Macintosh PowerPoint</Application>
  <PresentationFormat>On-screen Show (16:9)</PresentationFormat>
  <Paragraphs>72</Paragraphs>
  <Slides>4</Slides>
  <Notes>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4</vt:i4>
      </vt:variant>
    </vt:vector>
  </HeadingPairs>
  <TitlesOfParts>
    <vt:vector size="6" baseType="lpstr">
      <vt:lpstr>Arial</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Dataset Introduction &amp; Preliminary ML Direction</dc:title>
  <dc:subject>PptxGenJS Presentation</dc:subject>
  <dc:creator>Chinmayi</dc:creator>
  <cp:lastModifiedBy>Chinmayi Bolisetty</cp:lastModifiedBy>
  <cp:revision>4</cp:revision>
  <dcterms:created xsi:type="dcterms:W3CDTF">2026-10-04T21:48:37Z</dcterms:created>
  <dcterms:modified xsi:type="dcterms:W3CDTF">2026-10-04T22:05:16Z</dcterms:modified>
</cp:coreProperties>
</file>