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ata cleaning &amp; processing" id="{310a4075-79c3-36ad-b455-3825d60f662e}">
          <p14:sldIdLst>
            <p14:sldId id="256"/>
            <p14:sldId id="25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838"/>
                </a:solidFill>
                <a:latin typeface="+mn-lt"/>
              </a:defRPr>
            </a:pPr>
            <a:r>
              <a:rPr sz="1200" b="0" i="0" u="none" strike="noStrike">
                <a:solidFill>
                  <a:srgbClr val="1B2838"/>
                </a:solidFill>
                <a:latin typeface="+mn-lt"/>
              </a:rPr>
              <a:t>Rows remaining after each filter</a:t>
            </a:r>
          </a:p>
        </c:rich>
      </c:tx>
      <c:layout/>
      <c:overlay val="0"/>
    </c:title>
    <c:autoTitleDeleted val="0"/>
    <c:plotArea>
      <c:layout/>
      <c:barChart>
        <c:barDir val="bar"/>
        <c:grouping val="clustered"/>
        <c:varyColors val="0"/>
        <c:ser>
          <c:idx val="0"/>
          <c:order val="0"/>
          <c:tx>
            <c:strRef>
              <c:f>Sheet1!$B$1</c:f>
              <c:strCache>
                <c:ptCount val="1"/>
                <c:pt idx="0">
                  <c:v>Rows remaining</c:v>
                </c:pt>
              </c:strCache>
            </c:strRef>
          </c:tx>
          <c:spPr>
            <a:solidFill>
              <a:srgbClr val="898781"/>
            </a:solidFill>
            <a:effectLst/>
          </c:spPr>
          <c:invertIfNegative val="0"/>
          <c:dLbls>
            <c:numFmt formatCode="#,##0" sourceLinked="0"/>
            <c:txPr>
              <a:bodyPr/>
              <a:lstStyle/>
              <a:p>
                <a:pPr>
                  <a:defRPr b="0" i="0" strike="noStrike" sz="1100" u="none">
                    <a:solidFill>
                      <a:srgbClr val="1B2838"/>
                    </a:solidFill>
                    <a:latin typeface="+mn-lt"/>
                  </a:defRPr>
                </a:pPr>
              </a:p>
            </c:txPr>
            <c:showLegendKey val="0"/>
            <c:showVal val="1"/>
            <c:showCatName val="0"/>
            <c:showSerName val="0"/>
            <c:showPercent val="0"/>
            <c:showBubbleSize val="0"/>
            <c:showLeaderLines val="0"/>
          </c:dLbls>
          <c:dPt>
            <c:idx val="0"/>
            <c:invertIfNegative val="0"/>
            <c:bubble3D val="0"/>
            <c:spPr>
              <a:solidFill>
                <a:srgbClr val="898781"/>
              </a:solidFill>
              <a:effectLst/>
            </c:spPr>
          </c:dPt>
          <c:dPt>
            <c:idx val="1"/>
            <c:invertIfNegative val="0"/>
            <c:bubble3D val="0"/>
            <c:spPr>
              <a:solidFill>
                <a:srgbClr val="898781"/>
              </a:solidFill>
              <a:effectLst/>
            </c:spPr>
          </c:dPt>
          <c:dPt>
            <c:idx val="2"/>
            <c:invertIfNegative val="0"/>
            <c:bubble3D val="0"/>
            <c:spPr>
              <a:solidFill>
                <a:srgbClr val="898781"/>
              </a:solidFill>
              <a:effectLst/>
            </c:spPr>
          </c:dPt>
          <c:dPt>
            <c:idx val="3"/>
            <c:invertIfNegative val="0"/>
            <c:bubble3D val="0"/>
            <c:spPr>
              <a:solidFill>
                <a:srgbClr val="2A78D6"/>
              </a:solidFill>
              <a:effectLst/>
            </c:spPr>
          </c:dPt>
          <c:cat>
            <c:multiLvlStrRef>
              <c:f>Sheet1!$A$2:$A$5</c:f>
              <c:multiLvlStrCache>
                <c:ptCount val="4"/>
                <c:lvl>
                  <c:pt idx="0">
                    <c:v>Raw catalogue</c:v>
                  </c:pt>
                  <c:pt idx="1">
                    <c:v>− 24,579 with no sales data</c:v>
                  </c:pt>
                  <c:pt idx="2">
                    <c:v>− 1,099 non-game software</c:v>
                  </c:pt>
                  <c:pt idx="3">
                    <c:v>− 4,390 released &lt; 6 months ago</c:v>
                  </c:pt>
                </c:lvl>
              </c:multiLvlStrCache>
            </c:multiLvlStrRef>
          </c:cat>
          <c:val>
            <c:numRef>
              <c:f>Sheet1!$B$2:$B$5</c:f>
              <c:numCache>
                <c:formatCode>General</c:formatCode>
                <c:ptCount val="4"/>
                <c:pt idx="0">
                  <c:v>125855</c:v>
                </c:pt>
                <c:pt idx="1">
                  <c:v>101276</c:v>
                </c:pt>
                <c:pt idx="2">
                  <c:v>100177</c:v>
                </c:pt>
                <c:pt idx="3">
                  <c:v>95787</c:v>
                </c:pt>
              </c:numCache>
            </c:numRef>
          </c:val>
        </c:ser>
        <c:dLbls>
          <c:numFmt formatCode="#,##0" sourceLinked="0"/>
          <c:txPr>
            <a:bodyPr/>
            <a:lstStyle/>
            <a:p>
              <a:pPr>
                <a:defRPr b="0" i="0" strike="noStrike" sz="1100" u="none">
                  <a:solidFill>
                    <a:srgbClr val="1B2838"/>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ax val="1500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about 1 minute.
Before we could analyse anything, we had to make the raw file trustworthy.
[Point to the right card] The biggest challenge was hidden. The CSV header has 39 column names, but each row has 40 values, because one header cell, "DiscountDLC count", should be two columns. Loading it normally gives no error, but it puts the wrong labels on columns. For example, the column called "Price" holds the 65% discount, and "Required age" holds the $5.24 price. We fixed the header and added automatic checks so it can't slip back in.
[Point to the chart] Then we kept only rows that can answer our question:
- 24,579 listings had no sales data at all: playtests, unreleased or delisted games. We can't call those a success or a failure.
- 1,099 were software, like audio or video tools, not games.
- 4,390 were released within 6 months of the data snapshot (March 2026), so they hadn't had time to sell.
That leaves 95,787 games, 76% of the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about 1 minute.
[Chart, left] Missing values came in two forms: real blanks, and "disguised" ones, placeholders like 0 or an empty list that look like data. For example, a Metacritic score of 0 means "never reviewed", not "scored zero". Counting both, three columns were essentially empty (User score, Score rank, press quotes), so we dropped them or turned them into yes/no flags. Metacritic stays about 96% missing on purpose: most games are simply never reviewed by critics, and inventing scores would distort the analysis.
[Cards, right]
- Outliers: we did not delete blockbusters, because they are exactly the games we want to learn from. Extreme values were capped and flagged instead: 172 games priced over $100 (normal new releases cost up to about $70) and achievement counts in the thousands. Capping limits their pull on averages, and the flag keeps them traceable.
- Review counts are extremely skewed (skewness 156), so we use a log transform, which brings it down to 0.8.
- We parsed dates, turned owner ranges into numbers, and turned genre and category lists into yes/no columns. That gives 72 features known before release, kept separate from post-release numbers like reviews and playtime, so the model can't cheat.
- Only 14.6% of games reach 50,000 owners, so our target is imbalanced. [Hand over] Rachel's EDA builds on this clean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8229600" cy="274320"/>
          </a:xfrm>
          <a:prstGeom prst="rect">
            <a:avLst/>
          </a:prstGeom>
          <a:noFill/>
          <a:ln/>
        </p:spPr>
        <p:txBody>
          <a:bodyPr wrap="square" rtlCol="0"/>
          <a:lstStyle>
            <a:lvl1pPr indent="0" marL="0">
              <a:buNone/>
              <a:defRPr lang="en-US" sz="1200" b="1"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457200" y="457200"/>
            <a:ext cx="8229600" cy="548640"/>
          </a:xfrm>
          <a:prstGeom prst="rect">
            <a:avLst/>
          </a:prstGeom>
          <a:noFill/>
          <a:ln/>
        </p:spPr>
        <p:txBody>
          <a:bodyPr wrap="square" rtlCol="0"/>
          <a:lstStyle>
            <a:lvl1pPr algn="l" indent="0" marL="0">
              <a:buNone/>
              <a:defRPr lang="en-US" sz="2400" b="1" dirty="0">
                <a:solidFill>
                  <a:schemeClr val="tx1"/>
                </a:solidFill>
              </a:defRPr>
            </a:lvl1pPr>
          </a:lstStyle>
          <a:p>
            <a:pPr algn="l" indent="0" marL="0">
              <a:buNone/>
            </a:pPr>
            <a:endParaRPr lang="en-US" sz="2400" dirty="0"/>
          </a:p>
        </p:txBody>
      </p:sp>
      <p:sp>
        <p:nvSpPr>
          <p:cNvPr id="4" name="Text 0"/>
          <p:cNvSpPr/>
          <p:nvPr/>
        </p:nvSpPr>
        <p:spPr>
          <a:xfrm>
            <a:off x="457200" y="4800600"/>
            <a:ext cx="5486400" cy="228600"/>
          </a:xfrm>
          <a:prstGeom prst="rect">
            <a:avLst/>
          </a:prstGeom>
          <a:noFill/>
          <a:ln/>
        </p:spPr>
        <p:txBody>
          <a:bodyPr wrap="square" lIns="0" tIns="0" rIns="0" bIns="0" rtlCol="0" anchor="ctr"/>
          <a:lstStyle/>
          <a:p>
            <a:pPr indent="0" marL="0">
              <a:buNone/>
            </a:pPr>
            <a:r>
              <a:rPr lang="en-US" sz="1000" dirty="0">
                <a:solidFill>
                  <a:schemeClr val="tx2"/>
                </a:solidFill>
              </a:rPr>
              <a:t>Data cleaning &amp; processing · Keerat</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8229600" cy="274320"/>
          </a:xfrm>
          <a:prstGeom prst="rect">
            <a:avLst/>
          </a:prstGeom>
          <a:noFill/>
          <a:ln/>
        </p:spPr>
        <p:txBody>
          <a:bodyPr wrap="square" lIns="0" tIns="0" rIns="0" bIns="0" rtlCol="0"/>
          <a:lstStyle/>
          <a:p>
            <a:pPr indent="0" marL="0">
              <a:buNone/>
            </a:pPr>
            <a:r>
              <a:rPr lang="en-US" sz="1200" b="1" dirty="0">
                <a:solidFill>
                  <a:schemeClr val="accent1"/>
                </a:solidFill>
              </a:rPr>
              <a:t>DATA CLEANING &amp; PROCESSING</a:t>
            </a:r>
            <a:endParaRPr lang="en-US" sz="1200" dirty="0"/>
          </a:p>
        </p:txBody>
      </p:sp>
      <p:sp>
        <p:nvSpPr>
          <p:cNvPr id="3" name="Text 0"/>
          <p:cNvSpPr/>
          <p:nvPr>
            <p:ph idx="101" type="title" hasCustomPrompt="1"/>
          </p:nvPr>
        </p:nvSpPr>
        <p:spPr>
          <a:xfrm>
            <a:off x="457200" y="457200"/>
            <a:ext cx="8229600" cy="548640"/>
          </a:xfrm>
          <a:prstGeom prst="rect">
            <a:avLst/>
          </a:prstGeom>
          <a:noFill/>
          <a:ln/>
        </p:spPr>
        <p:txBody>
          <a:bodyPr wrap="square" lIns="0" tIns="0" rIns="0" bIns="0" rtlCol="0" anchor="t"/>
          <a:lstStyle/>
          <a:p>
            <a:pPr algn="l" indent="0" marL="0">
              <a:buNone/>
            </a:pPr>
            <a:r>
              <a:rPr lang="en-US" sz="2400" b="1" dirty="0">
                <a:solidFill>
                  <a:schemeClr val="tx1"/>
                </a:solidFill>
              </a:rPr>
              <a:t>From 125,855 Steam listings to 95,787 analysable games</a:t>
            </a:r>
            <a:endParaRPr lang="en-US" sz="2400" dirty="0"/>
          </a:p>
        </p:txBody>
      </p:sp>
      <p:graphicFrame>
        <p:nvGraphicFramePr>
          <p:cNvPr id="4" name="Funnel chart" descr=""/>
          <p:cNvGraphicFramePr/>
          <p:nvPr/>
        </p:nvGraphicFramePr>
        <p:xfrm>
          <a:off x="365760" y="1188720"/>
          <a:ext cx="4846320" cy="2971800"/>
        </p:xfrm>
        <a:graphic xmlns:a="http://schemas.openxmlformats.org/drawingml/2006/main">
          <a:graphicData uri="http://schemas.openxmlformats.org/drawingml/2006/chart">
            <c:chart xmlns:c="http://schemas.openxmlformats.org/drawingml/2006/chart" r:id="rId1"/>
          </a:graphicData>
        </a:graphic>
      </p:graphicFrame>
      <p:sp>
        <p:nvSpPr>
          <p:cNvPr id="5" name="Funnel caption"/>
          <p:cNvSpPr txBox="1"/>
          <p:nvPr/>
        </p:nvSpPr>
        <p:spPr>
          <a:xfrm>
            <a:off x="457200" y="4206240"/>
            <a:ext cx="4754880" cy="274320"/>
          </a:xfrm>
          <a:prstGeom prst="rect">
            <a:avLst/>
          </a:prstGeom>
          <a:noFill/>
          <a:ln/>
        </p:spPr>
        <p:txBody>
          <a:bodyPr wrap="square" lIns="0" tIns="0" rIns="0" bIns="0" rtlCol="0" anchor="ctr"/>
          <a:lstStyle/>
          <a:p>
            <a:pPr indent="0" marL="0">
              <a:buNone/>
            </a:pPr>
            <a:r>
              <a:rPr lang="en-US" sz="1100" i="1" dirty="0">
                <a:solidFill>
                  <a:schemeClr val="tx2"/>
                </a:solidFill>
              </a:rPr>
              <a:t>Also verified: 0 duplicate games, 0 unreadable release dates</a:t>
            </a:r>
            <a:endParaRPr lang="en-US" sz="1100" dirty="0"/>
          </a:p>
        </p:txBody>
      </p:sp>
      <p:sp>
        <p:nvSpPr>
          <p:cNvPr id="6" name="Challenge card"/>
          <p:cNvSpPr/>
          <p:nvPr/>
        </p:nvSpPr>
        <p:spPr>
          <a:xfrm>
            <a:off x="5440680" y="1188720"/>
            <a:ext cx="3246120" cy="3291840"/>
          </a:xfrm>
          <a:prstGeom prst="roundRect">
            <a:avLst>
              <a:gd name="adj" fmla="val 2254"/>
            </a:avLst>
          </a:prstGeom>
          <a:solidFill>
            <a:schemeClr val="bg2"/>
          </a:solidFill>
          <a:ln w="12700">
            <a:solidFill>
              <a:schemeClr val="bg2"/>
            </a:solidFill>
            <a:prstDash val="solid"/>
          </a:ln>
        </p:spPr>
      </p:sp>
      <p:sp>
        <p:nvSpPr>
          <p:cNvPr id="7" name="Text 4"/>
          <p:cNvSpPr txBox="1"/>
          <p:nvPr/>
        </p:nvSpPr>
        <p:spPr>
          <a:xfrm>
            <a:off x="5623560" y="1325880"/>
            <a:ext cx="2880360" cy="320040"/>
          </a:xfrm>
          <a:prstGeom prst="rect">
            <a:avLst/>
          </a:prstGeom>
          <a:noFill/>
          <a:ln/>
        </p:spPr>
        <p:txBody>
          <a:bodyPr wrap="square" lIns="0" tIns="0" rIns="0" bIns="0" rtlCol="0" anchor="ctr"/>
          <a:lstStyle/>
          <a:p>
            <a:pPr indent="0" marL="0">
              <a:buNone/>
            </a:pPr>
            <a:r>
              <a:rPr lang="en-US" sz="1400" b="1" dirty="0">
                <a:solidFill>
                  <a:schemeClr val="tx1"/>
                </a:solidFill>
              </a:rPr>
              <a:t>Challenge: a shifted header</a:t>
            </a:r>
            <a:endParaRPr lang="en-US" sz="1400" dirty="0"/>
          </a:p>
        </p:txBody>
      </p:sp>
      <p:sp>
        <p:nvSpPr>
          <p:cNvPr id="8" name="Text 5"/>
          <p:cNvSpPr txBox="1"/>
          <p:nvPr/>
        </p:nvSpPr>
        <p:spPr>
          <a:xfrm>
            <a:off x="5623560" y="1691640"/>
            <a:ext cx="2880360" cy="868680"/>
          </a:xfrm>
          <a:prstGeom prst="rect">
            <a:avLst/>
          </a:prstGeom>
          <a:noFill/>
          <a:ln/>
        </p:spPr>
        <p:txBody>
          <a:bodyPr wrap="square" lIns="0" tIns="0" rIns="0" bIns="0" rtlCol="0" anchor="t"/>
          <a:lstStyle/>
          <a:p>
            <a:pPr indent="0" marL="0">
              <a:buNone/>
            </a:pPr>
            <a:r>
              <a:rPr lang="en-US" sz="1200" dirty="0">
                <a:solidFill>
                  <a:schemeClr val="tx1"/>
                </a:solidFill>
              </a:rPr>
              <a:t>The header has 39 column names, but every row has 40 values. A plain read_csv shows no error, yet it puts the wrong labels on columns. Example game, Supipara:</a:t>
            </a:r>
            <a:endParaRPr lang="en-US" sz="1200" dirty="0"/>
          </a:p>
        </p:txBody>
      </p:sp>
      <p:graphicFrame>
        <p:nvGraphicFramePr>
          <p:cNvPr id="2" name="Header bug table"/>
          <p:cNvGraphicFramePr>
            <a:graphicFrameLocks noGrp="1"/>
          </p:cNvGraphicFramePr>
          <p:nvPr>
            <p:extLst>
              <p:ext uri="{D42A27DB-BD31-4B8C-83A1-F6EECF244321}">
                <p14:modId xmlns:p14="http://schemas.microsoft.com/office/powerpoint/2010/main" val="1579011935"/>
              </p:ext>
            </p:extLst>
          </p:nvPr>
        </p:nvGraphicFramePr>
        <p:xfrm>
          <a:off x="5623560" y="2761488"/>
          <a:ext cx="2880360" cy="914400"/>
        </p:xfrm>
        <a:graphic>
          <a:graphicData uri="http://schemas.openxmlformats.org/drawingml/2006/table">
            <a:tbl>
              <a:tblPr/>
              <a:tblGrid>
                <a:gridCol w="1234440"/>
                <a:gridCol w="822960"/>
                <a:gridCol w="822960"/>
              </a:tblGrid>
              <a:tr h="274320">
                <a:tc>
                  <a:txBody>
                    <a:bodyPr/>
                    <a:lstStyle/>
                    <a:p>
                      <a:pPr indent="0" marL="0">
                        <a:buNone/>
                      </a:pPr>
                      <a:r>
                        <a:rPr lang="en-US" sz="1100" b="1" dirty="0">
                          <a:solidFill>
                            <a:srgbClr val="FFFFFF"/>
                          </a:solidFill>
                          <a:latin typeface="Arial" pitchFamily="34" charset="0"/>
                          <a:ea typeface="Arial" pitchFamily="34" charset="-122"/>
                          <a:cs typeface="Arial" pitchFamily="34" charset="-120"/>
                        </a:rPr>
                        <a:t>Column label</a:t>
                      </a:r>
                      <a:endParaRPr lang="en-US" sz="1100" dirty="0">
                        <a:latin typeface="Arial" charset="0"/>
                        <a:ea typeface="Arial" charset="0"/>
                        <a:cs typeface="Arial" charset="0"/>
                      </a:endParaRPr>
                    </a:p>
                  </a:txBody>
                  <a:tcPr marL="91440" marR="91440" marT="45720" marB="45720">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2838"/>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Naive load</a:t>
                      </a:r>
                      <a:endParaRPr lang="en-US" sz="1100" dirty="0">
                        <a:latin typeface="Arial" charset="0"/>
                        <a:ea typeface="Arial" charset="0"/>
                        <a:cs typeface="Arial" charset="0"/>
                      </a:endParaRPr>
                    </a:p>
                  </a:txBody>
                  <a:tcPr marL="91440" marR="91440" marT="45720" marB="45720">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2838"/>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Fixed</a:t>
                      </a:r>
                      <a:endParaRPr lang="en-US" sz="1100" dirty="0">
                        <a:latin typeface="Arial" charset="0"/>
                        <a:ea typeface="Arial" charset="0"/>
                        <a:cs typeface="Arial" charset="0"/>
                      </a:endParaRPr>
                    </a:p>
                  </a:txBody>
                  <a:tcPr marL="91440" marR="91440" marT="45720" marB="45720">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2838"/>
                    </a:solidFill>
                  </a:tcPr>
                </a:tc>
              </a:tr>
              <a:tr h="274320">
                <a:tc>
                  <a:txBody>
                    <a:bodyPr/>
                    <a:lstStyle/>
                    <a:p>
                      <a:pPr indent="0" marL="0">
                        <a:buNone/>
                      </a:pPr>
                      <a:r>
                        <a:rPr lang="en-US" sz="1100" dirty="0">
                          <a:solidFill>
                            <a:srgbClr val="1B2838"/>
                          </a:solidFill>
                          <a:latin typeface="Arial" pitchFamily="34" charset="0"/>
                          <a:ea typeface="Arial" pitchFamily="34" charset="-122"/>
                          <a:cs typeface="Arial" pitchFamily="34" charset="-120"/>
                        </a:rPr>
                        <a:t>"Price"</a:t>
                      </a:r>
                      <a:endParaRPr lang="en-US" sz="1100" dirty="0">
                        <a:latin typeface="Arial" charset="0"/>
                        <a:ea typeface="Arial" charset="0"/>
                        <a:cs typeface="Arial" charset="0"/>
                      </a:endParaRPr>
                    </a:p>
                  </a:txBody>
                  <a:tcPr marL="91440" marR="91440" marT="45720" marB="45720">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00" b="1" dirty="0">
                          <a:solidFill>
                            <a:srgbClr val="C4421A"/>
                          </a:solidFill>
                          <a:latin typeface="Arial" pitchFamily="34" charset="0"/>
                          <a:ea typeface="Arial" pitchFamily="34" charset="-122"/>
                          <a:cs typeface="Arial" pitchFamily="34" charset="-120"/>
                        </a:rPr>
                        <a:t>65</a:t>
                      </a:r>
                      <a:endParaRPr lang="en-US" sz="1100" dirty="0">
                        <a:latin typeface="Arial" charset="0"/>
                        <a:ea typeface="Arial" charset="0"/>
                        <a:cs typeface="Arial" charset="0"/>
                      </a:endParaRPr>
                    </a:p>
                  </a:txBody>
                  <a:tcPr marL="91440" marR="91440" marT="45720" marB="45720">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00" dirty="0">
                          <a:solidFill>
                            <a:srgbClr val="1B2838"/>
                          </a:solidFill>
                          <a:latin typeface="Arial" pitchFamily="34" charset="0"/>
                          <a:ea typeface="Arial" pitchFamily="34" charset="-122"/>
                          <a:cs typeface="Arial" pitchFamily="34" charset="-120"/>
                        </a:rPr>
                        <a:t>$5.24</a:t>
                      </a:r>
                      <a:endParaRPr lang="en-US" sz="1100" dirty="0">
                        <a:latin typeface="Arial" charset="0"/>
                        <a:ea typeface="Arial" charset="0"/>
                        <a:cs typeface="Arial" charset="0"/>
                      </a:endParaRPr>
                    </a:p>
                  </a:txBody>
                  <a:tcPr marL="91440" marR="91440" marT="45720" marB="45720">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FFFFF"/>
                    </a:solidFill>
                  </a:tcPr>
                </a:tc>
              </a:tr>
              <a:tr h="274320">
                <a:tc>
                  <a:txBody>
                    <a:bodyPr/>
                    <a:lstStyle/>
                    <a:p>
                      <a:pPr indent="0" marL="0">
                        <a:buNone/>
                      </a:pPr>
                      <a:r>
                        <a:rPr lang="en-US" sz="1100" dirty="0">
                          <a:solidFill>
                            <a:srgbClr val="1B2838"/>
                          </a:solidFill>
                          <a:latin typeface="Arial" pitchFamily="34" charset="0"/>
                          <a:ea typeface="Arial" pitchFamily="34" charset="-122"/>
                          <a:cs typeface="Arial" pitchFamily="34" charset="-120"/>
                        </a:rPr>
                        <a:t>"Required age"</a:t>
                      </a:r>
                      <a:endParaRPr lang="en-US" sz="1100" dirty="0">
                        <a:latin typeface="Arial" charset="0"/>
                        <a:ea typeface="Arial" charset="0"/>
                        <a:cs typeface="Arial" charset="0"/>
                      </a:endParaRPr>
                    </a:p>
                  </a:txBody>
                  <a:tcPr marL="91440" marR="91440" marT="45720" marB="45720">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00" b="1" dirty="0">
                          <a:solidFill>
                            <a:srgbClr val="C4421A"/>
                          </a:solidFill>
                          <a:latin typeface="Arial" pitchFamily="34" charset="0"/>
                          <a:ea typeface="Arial" pitchFamily="34" charset="-122"/>
                          <a:cs typeface="Arial" pitchFamily="34" charset="-120"/>
                        </a:rPr>
                        <a:t>5.24</a:t>
                      </a:r>
                      <a:endParaRPr lang="en-US" sz="1100" dirty="0">
                        <a:latin typeface="Arial" charset="0"/>
                        <a:ea typeface="Arial" charset="0"/>
                        <a:cs typeface="Arial" charset="0"/>
                      </a:endParaRPr>
                    </a:p>
                  </a:txBody>
                  <a:tcPr marL="91440" marR="91440" marT="45720" marB="45720">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100" dirty="0">
                          <a:solidFill>
                            <a:srgbClr val="1B2838"/>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marL="91440" marR="91440" marT="45720" marB="45720">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FFFFF"/>
                    </a:solidFill>
                  </a:tcPr>
                </a:tc>
              </a:tr>
            </a:tbl>
          </a:graphicData>
        </a:graphic>
      </p:graphicFrame>
      <p:sp>
        <p:nvSpPr>
          <p:cNvPr id="10" name="Text 6"/>
          <p:cNvSpPr txBox="1"/>
          <p:nvPr/>
        </p:nvSpPr>
        <p:spPr>
          <a:xfrm>
            <a:off x="5623560" y="3794760"/>
            <a:ext cx="2880360" cy="640080"/>
          </a:xfrm>
          <a:prstGeom prst="rect">
            <a:avLst/>
          </a:prstGeom>
          <a:noFill/>
          <a:ln/>
        </p:spPr>
        <p:txBody>
          <a:bodyPr wrap="square" lIns="0" tIns="0" rIns="0" bIns="0" rtlCol="0" anchor="t"/>
          <a:lstStyle/>
          <a:p>
            <a:pPr indent="0" marL="0">
              <a:buNone/>
            </a:pPr>
            <a:r>
              <a:rPr lang="en-US" sz="1200" dirty="0">
                <a:solidFill>
                  <a:schemeClr val="tx1"/>
                </a:solidFill>
              </a:rPr>
              <a:t>Fix: split "DiscountDLC count" into two columns, then check automatically that every column holds the right kind of data.</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8229600" cy="274320"/>
          </a:xfrm>
          <a:prstGeom prst="rect">
            <a:avLst/>
          </a:prstGeom>
          <a:noFill/>
          <a:ln/>
        </p:spPr>
        <p:txBody>
          <a:bodyPr wrap="square" lIns="0" tIns="0" rIns="0" bIns="0" rtlCol="0"/>
          <a:lstStyle/>
          <a:p>
            <a:pPr indent="0" marL="0">
              <a:buNone/>
            </a:pPr>
            <a:r>
              <a:rPr lang="en-US" sz="1200" b="1" dirty="0">
                <a:solidFill>
                  <a:schemeClr val="accent1"/>
                </a:solidFill>
              </a:rPr>
              <a:t>DATA CLEANING &amp; PROCESSING</a:t>
            </a:r>
            <a:endParaRPr lang="en-US" sz="1200" dirty="0"/>
          </a:p>
        </p:txBody>
      </p:sp>
      <p:sp>
        <p:nvSpPr>
          <p:cNvPr id="3" name="Text 0"/>
          <p:cNvSpPr/>
          <p:nvPr>
            <p:ph idx="101" type="title" hasCustomPrompt="1"/>
          </p:nvPr>
        </p:nvSpPr>
        <p:spPr>
          <a:xfrm>
            <a:off x="457200" y="457200"/>
            <a:ext cx="8229600" cy="548640"/>
          </a:xfrm>
          <a:prstGeom prst="rect">
            <a:avLst/>
          </a:prstGeom>
          <a:noFill/>
          <a:ln/>
        </p:spPr>
        <p:txBody>
          <a:bodyPr wrap="square" lIns="0" tIns="0" rIns="0" bIns="0" rtlCol="0" anchor="t"/>
          <a:lstStyle/>
          <a:p>
            <a:pPr algn="l" indent="0" marL="0">
              <a:buNone/>
            </a:pPr>
            <a:r>
              <a:rPr lang="en-US" sz="2400" b="1" dirty="0">
                <a:solidFill>
                  <a:schemeClr val="tx1"/>
                </a:solidFill>
              </a:rPr>
              <a:t>Missing values, outliers and transformations</a:t>
            </a:r>
            <a:endParaRPr lang="en-US" sz="2400" dirty="0"/>
          </a:p>
        </p:txBody>
      </p:sp>
      <p:pic>
        <p:nvPicPr>
          <p:cNvPr id="4" name="Missing values chart" descr="Bar chart of missing values before vs after cleaning">    </p:cNvPr>
          <p:cNvPicPr>
            <a:picLocks noChangeAspect="1"/>
          </p:cNvPicPr>
          <p:nvPr/>
        </p:nvPicPr>
        <p:blipFill>
          <a:blip r:embed="rId1"/>
          <a:stretch>
            <a:fillRect/>
          </a:stretch>
        </p:blipFill>
        <p:spPr>
          <a:xfrm>
            <a:off x="365760" y="1143000"/>
            <a:ext cx="4754880" cy="2610627"/>
          </a:xfrm>
          <a:prstGeom prst="rect">
            <a:avLst/>
          </a:prstGeom>
        </p:spPr>
      </p:pic>
      <p:sp>
        <p:nvSpPr>
          <p:cNvPr id="5" name="Missing caption"/>
          <p:cNvSpPr txBox="1"/>
          <p:nvPr/>
        </p:nvSpPr>
        <p:spPr>
          <a:xfrm>
            <a:off x="457200" y="3845067"/>
            <a:ext cx="4663440" cy="685800"/>
          </a:xfrm>
          <a:prstGeom prst="rect">
            <a:avLst/>
          </a:prstGeom>
          <a:noFill/>
          <a:ln/>
        </p:spPr>
        <p:txBody>
          <a:bodyPr wrap="square" lIns="0" tIns="0" rIns="0" bIns="0" rtlCol="0" anchor="t"/>
          <a:lstStyle/>
          <a:p>
            <a:pPr indent="0" marL="0">
              <a:buNone/>
            </a:pPr>
            <a:r>
              <a:rPr lang="en-US" sz="1200" b="1" dirty="0">
                <a:solidFill>
                  <a:schemeClr val="tx1"/>
                </a:solidFill>
              </a:rPr>
              <a:t>Disguised missing values: </a:t>
            </a:r>
            <a:pPr indent="0" marL="0">
              <a:buNone/>
            </a:pPr>
            <a:r>
              <a:rPr lang="en-US" sz="1200" dirty="0">
                <a:solidFill>
                  <a:schemeClr val="tx1"/>
                </a:solidFill>
              </a:rPr>
              <a:t>placeholders like 0 or [ ] counted as missing. A Metacritic score of 0 means "never reviewed", so it becomes blank, not zero.</a:t>
            </a:r>
            <a:endParaRPr lang="en-US" sz="1200" dirty="0"/>
          </a:p>
        </p:txBody>
      </p:sp>
      <p:sp>
        <p:nvSpPr>
          <p:cNvPr id="6" name="Stat card 1"/>
          <p:cNvSpPr/>
          <p:nvPr/>
        </p:nvSpPr>
        <p:spPr>
          <a:xfrm>
            <a:off x="5440680" y="1143000"/>
            <a:ext cx="3246120" cy="713232"/>
          </a:xfrm>
          <a:prstGeom prst="roundRect">
            <a:avLst>
              <a:gd name="adj" fmla="val 7692"/>
            </a:avLst>
          </a:prstGeom>
          <a:solidFill>
            <a:schemeClr val="bg2"/>
          </a:solidFill>
          <a:ln w="12700">
            <a:solidFill>
              <a:schemeClr val="bg2"/>
            </a:solidFill>
            <a:prstDash val="solid"/>
          </a:ln>
        </p:spPr>
      </p:sp>
      <p:sp>
        <p:nvSpPr>
          <p:cNvPr id="7" name="Text 4"/>
          <p:cNvSpPr txBox="1"/>
          <p:nvPr/>
        </p:nvSpPr>
        <p:spPr>
          <a:xfrm>
            <a:off x="5577840" y="1197864"/>
            <a:ext cx="2971800" cy="292608"/>
          </a:xfrm>
          <a:prstGeom prst="rect">
            <a:avLst/>
          </a:prstGeom>
          <a:noFill/>
          <a:ln/>
        </p:spPr>
        <p:txBody>
          <a:bodyPr wrap="square" lIns="0" tIns="0" rIns="0" bIns="0" rtlCol="0" anchor="ctr"/>
          <a:lstStyle/>
          <a:p>
            <a:pPr indent="0" marL="0">
              <a:buNone/>
            </a:pPr>
            <a:r>
              <a:rPr lang="en-US" sz="1800" b="1" dirty="0">
                <a:solidFill>
                  <a:schemeClr val="accent1"/>
                </a:solidFill>
              </a:rPr>
              <a:t>172</a:t>
            </a:r>
            <a:endParaRPr lang="en-US" sz="1800" dirty="0"/>
          </a:p>
        </p:txBody>
      </p:sp>
      <p:sp>
        <p:nvSpPr>
          <p:cNvPr id="8" name="Text 5"/>
          <p:cNvSpPr txBox="1"/>
          <p:nvPr/>
        </p:nvSpPr>
        <p:spPr>
          <a:xfrm>
            <a:off x="5577840" y="1481328"/>
            <a:ext cx="2971800" cy="347472"/>
          </a:xfrm>
          <a:prstGeom prst="rect">
            <a:avLst/>
          </a:prstGeom>
          <a:noFill/>
          <a:ln/>
        </p:spPr>
        <p:txBody>
          <a:bodyPr wrap="square" lIns="0" tIns="0" rIns="0" bIns="0" rtlCol="0" anchor="t"/>
          <a:lstStyle/>
          <a:p>
            <a:pPr indent="0" marL="0">
              <a:buNone/>
            </a:pPr>
            <a:r>
              <a:rPr lang="en-US" sz="1100" dirty="0">
                <a:solidFill>
                  <a:schemeClr val="tx1"/>
                </a:solidFill>
              </a:rPr>
              <a:t>games priced over $100 (up to $999.98) were capped and flagged, not deleted</a:t>
            </a:r>
            <a:endParaRPr lang="en-US" sz="1100" dirty="0"/>
          </a:p>
        </p:txBody>
      </p:sp>
      <p:sp>
        <p:nvSpPr>
          <p:cNvPr id="9" name="Stat card 2"/>
          <p:cNvSpPr/>
          <p:nvPr/>
        </p:nvSpPr>
        <p:spPr>
          <a:xfrm>
            <a:off x="5440680" y="1929384"/>
            <a:ext cx="3246120" cy="713232"/>
          </a:xfrm>
          <a:prstGeom prst="roundRect">
            <a:avLst>
              <a:gd name="adj" fmla="val 7692"/>
            </a:avLst>
          </a:prstGeom>
          <a:solidFill>
            <a:schemeClr val="bg2"/>
          </a:solidFill>
          <a:ln w="12700">
            <a:solidFill>
              <a:schemeClr val="bg2"/>
            </a:solidFill>
            <a:prstDash val="solid"/>
          </a:ln>
        </p:spPr>
      </p:sp>
      <p:sp>
        <p:nvSpPr>
          <p:cNvPr id="10" name="Text 7"/>
          <p:cNvSpPr txBox="1"/>
          <p:nvPr/>
        </p:nvSpPr>
        <p:spPr>
          <a:xfrm>
            <a:off x="5577840" y="1984248"/>
            <a:ext cx="2971800" cy="292608"/>
          </a:xfrm>
          <a:prstGeom prst="rect">
            <a:avLst/>
          </a:prstGeom>
          <a:noFill/>
          <a:ln/>
        </p:spPr>
        <p:txBody>
          <a:bodyPr wrap="square" lIns="0" tIns="0" rIns="0" bIns="0" rtlCol="0" anchor="ctr"/>
          <a:lstStyle/>
          <a:p>
            <a:pPr indent="0" marL="0">
              <a:buNone/>
            </a:pPr>
            <a:r>
              <a:rPr lang="en-US" sz="1800" b="1" dirty="0">
                <a:solidFill>
                  <a:schemeClr val="accent1"/>
                </a:solidFill>
              </a:rPr>
              <a:t>156 → 0.8</a:t>
            </a:r>
            <a:endParaRPr lang="en-US" sz="1800" dirty="0"/>
          </a:p>
        </p:txBody>
      </p:sp>
      <p:sp>
        <p:nvSpPr>
          <p:cNvPr id="11" name="Text 8"/>
          <p:cNvSpPr txBox="1"/>
          <p:nvPr/>
        </p:nvSpPr>
        <p:spPr>
          <a:xfrm>
            <a:off x="5577840" y="2267712"/>
            <a:ext cx="2971800" cy="347472"/>
          </a:xfrm>
          <a:prstGeom prst="rect">
            <a:avLst/>
          </a:prstGeom>
          <a:noFill/>
          <a:ln/>
        </p:spPr>
        <p:txBody>
          <a:bodyPr wrap="square" lIns="0" tIns="0" rIns="0" bIns="0" rtlCol="0" anchor="t"/>
          <a:lstStyle/>
          <a:p>
            <a:pPr indent="0" marL="0">
              <a:buNone/>
            </a:pPr>
            <a:r>
              <a:rPr lang="en-US" sz="1100" dirty="0">
                <a:solidFill>
                  <a:schemeClr val="tx1"/>
                </a:solidFill>
              </a:rPr>
              <a:t>skewness of review counts after a log(1 + x) transform</a:t>
            </a:r>
            <a:endParaRPr lang="en-US" sz="1100" dirty="0"/>
          </a:p>
        </p:txBody>
      </p:sp>
      <p:sp>
        <p:nvSpPr>
          <p:cNvPr id="12" name="Stat card 3"/>
          <p:cNvSpPr/>
          <p:nvPr/>
        </p:nvSpPr>
        <p:spPr>
          <a:xfrm>
            <a:off x="5440680" y="2715768"/>
            <a:ext cx="3246120" cy="713232"/>
          </a:xfrm>
          <a:prstGeom prst="roundRect">
            <a:avLst>
              <a:gd name="adj" fmla="val 7692"/>
            </a:avLst>
          </a:prstGeom>
          <a:solidFill>
            <a:schemeClr val="bg2"/>
          </a:solidFill>
          <a:ln w="12700">
            <a:solidFill>
              <a:schemeClr val="bg2"/>
            </a:solidFill>
            <a:prstDash val="solid"/>
          </a:ln>
        </p:spPr>
      </p:sp>
      <p:sp>
        <p:nvSpPr>
          <p:cNvPr id="13" name="Text 10"/>
          <p:cNvSpPr txBox="1"/>
          <p:nvPr/>
        </p:nvSpPr>
        <p:spPr>
          <a:xfrm>
            <a:off x="5577840" y="2770632"/>
            <a:ext cx="2971800" cy="292608"/>
          </a:xfrm>
          <a:prstGeom prst="rect">
            <a:avLst/>
          </a:prstGeom>
          <a:noFill/>
          <a:ln/>
        </p:spPr>
        <p:txBody>
          <a:bodyPr wrap="square" lIns="0" tIns="0" rIns="0" bIns="0" rtlCol="0" anchor="ctr"/>
          <a:lstStyle/>
          <a:p>
            <a:pPr indent="0" marL="0">
              <a:buNone/>
            </a:pPr>
            <a:r>
              <a:rPr lang="en-US" sz="1800" b="1" dirty="0">
                <a:solidFill>
                  <a:schemeClr val="accent1"/>
                </a:solidFill>
              </a:rPr>
              <a:t>72</a:t>
            </a:r>
            <a:endParaRPr lang="en-US" sz="1800" dirty="0"/>
          </a:p>
        </p:txBody>
      </p:sp>
      <p:sp>
        <p:nvSpPr>
          <p:cNvPr id="14" name="Text 11"/>
          <p:cNvSpPr txBox="1"/>
          <p:nvPr/>
        </p:nvSpPr>
        <p:spPr>
          <a:xfrm>
            <a:off x="5577840" y="3054096"/>
            <a:ext cx="2971800" cy="347472"/>
          </a:xfrm>
          <a:prstGeom prst="rect">
            <a:avLst/>
          </a:prstGeom>
          <a:noFill/>
          <a:ln/>
        </p:spPr>
        <p:txBody>
          <a:bodyPr wrap="square" lIns="0" tIns="0" rIns="0" bIns="0" rtlCol="0" anchor="t"/>
          <a:lstStyle/>
          <a:p>
            <a:pPr indent="0" marL="0">
              <a:buNone/>
            </a:pPr>
            <a:r>
              <a:rPr lang="en-US" sz="1100" dirty="0">
                <a:solidFill>
                  <a:schemeClr val="tx1"/>
                </a:solidFill>
              </a:rPr>
              <a:t>pre-release features, kept apart from post-release outcomes to avoid leakage</a:t>
            </a:r>
            <a:endParaRPr lang="en-US" sz="1100" dirty="0"/>
          </a:p>
        </p:txBody>
      </p:sp>
      <p:sp>
        <p:nvSpPr>
          <p:cNvPr id="15" name="Stat card 4"/>
          <p:cNvSpPr/>
          <p:nvPr/>
        </p:nvSpPr>
        <p:spPr>
          <a:xfrm>
            <a:off x="5440680" y="3502152"/>
            <a:ext cx="3246120" cy="713232"/>
          </a:xfrm>
          <a:prstGeom prst="roundRect">
            <a:avLst>
              <a:gd name="adj" fmla="val 7692"/>
            </a:avLst>
          </a:prstGeom>
          <a:solidFill>
            <a:schemeClr val="bg2"/>
          </a:solidFill>
          <a:ln w="12700">
            <a:solidFill>
              <a:schemeClr val="bg2"/>
            </a:solidFill>
            <a:prstDash val="solid"/>
          </a:ln>
        </p:spPr>
      </p:sp>
      <p:sp>
        <p:nvSpPr>
          <p:cNvPr id="16" name="Text 13"/>
          <p:cNvSpPr txBox="1"/>
          <p:nvPr/>
        </p:nvSpPr>
        <p:spPr>
          <a:xfrm>
            <a:off x="5577840" y="3557016"/>
            <a:ext cx="2971800" cy="292608"/>
          </a:xfrm>
          <a:prstGeom prst="rect">
            <a:avLst/>
          </a:prstGeom>
          <a:noFill/>
          <a:ln/>
        </p:spPr>
        <p:txBody>
          <a:bodyPr wrap="square" lIns="0" tIns="0" rIns="0" bIns="0" rtlCol="0" anchor="ctr"/>
          <a:lstStyle/>
          <a:p>
            <a:pPr indent="0" marL="0">
              <a:buNone/>
            </a:pPr>
            <a:r>
              <a:rPr lang="en-US" sz="1800" b="1" dirty="0">
                <a:solidFill>
                  <a:schemeClr val="accent2"/>
                </a:solidFill>
              </a:rPr>
              <a:t>14.6%</a:t>
            </a:r>
            <a:endParaRPr lang="en-US" sz="1800" dirty="0"/>
          </a:p>
        </p:txBody>
      </p:sp>
      <p:sp>
        <p:nvSpPr>
          <p:cNvPr id="17" name="Text 14"/>
          <p:cNvSpPr txBox="1"/>
          <p:nvPr/>
        </p:nvSpPr>
        <p:spPr>
          <a:xfrm>
            <a:off x="5577840" y="3840480"/>
            <a:ext cx="2971800" cy="347472"/>
          </a:xfrm>
          <a:prstGeom prst="rect">
            <a:avLst/>
          </a:prstGeom>
          <a:noFill/>
          <a:ln/>
        </p:spPr>
        <p:txBody>
          <a:bodyPr wrap="square" lIns="0" tIns="0" rIns="0" bIns="0" rtlCol="0" anchor="t"/>
          <a:lstStyle/>
          <a:p>
            <a:pPr indent="0" marL="0">
              <a:buNone/>
            </a:pPr>
            <a:r>
              <a:rPr lang="en-US" sz="1100" dirty="0">
                <a:solidFill>
                  <a:schemeClr val="tx1"/>
                </a:solidFill>
              </a:rPr>
              <a:t>of games reach ≥ 50K owners: an imbalanced target for ML</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2</a:t>
            </a:fld>
            <a:endParaRPr lang="en-US"/>
          </a:p>
        </p:txBody>
      </p:sp>
    </p:spTree>
  </p:cSld>
  <p:clrMapOvr>
    <a:masterClrMapping/>
  </p:clrMapOvr>
</p:sld>
</file>

<file path=ppt/theme/theme1.xml><?xml version="1.0" encoding="utf-8"?>
<a:theme xmlns:a="http://schemas.openxmlformats.org/drawingml/2006/main" name="Steam Cleaning">
  <a:themeElements>
    <a:clrScheme name="Steam Cleaning">
      <a:dk1>
        <a:srgbClr val="1B2838"/>
      </a:dk1>
      <a:lt1>
        <a:srgbClr val="FFFFFF"/>
      </a:lt1>
      <a:dk2>
        <a:srgbClr val="52514E"/>
      </a:dk2>
      <a:lt2>
        <a:srgbClr val="EEF3F8"/>
      </a:lt2>
      <a:accent1>
        <a:srgbClr val="2A78D6"/>
      </a:accent1>
      <a:accent2>
        <a:srgbClr val="EB6834"/>
      </a:accent2>
      <a:accent3>
        <a:srgbClr val="898781"/>
      </a:accent3>
      <a:accent4>
        <a:srgbClr val="1BAF7A"/>
      </a:accent4>
      <a:accent5>
        <a:srgbClr val="EDA100"/>
      </a:accent5>
      <a:accent6>
        <a:srgbClr val="4A3AA7"/>
      </a:accent6>
      <a:hlink>
        <a:srgbClr val="2A78D6"/>
      </a:hlink>
      <a:folHlink>
        <a:srgbClr val="4A3AA7"/>
      </a:folHlink>
    </a:clrScheme>
    <a:fontScheme name="Steam Cleaning">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Cleaning &amp; Processing</dc:title>
  <dc:subject>PptxGenJS Presentation</dc:subject>
  <dc:creator>Keerat</dc:creator>
  <cp:lastModifiedBy>Keerat</cp:lastModifiedBy>
  <cp:revision>1</cp:revision>
  <dcterms:created xsi:type="dcterms:W3CDTF">2026-10-03T18:32:25Z</dcterms:created>
  <dcterms:modified xsi:type="dcterms:W3CDTF">2026-10-03T18:32:25Z</dcterms:modified>
</cp:coreProperties>
</file>